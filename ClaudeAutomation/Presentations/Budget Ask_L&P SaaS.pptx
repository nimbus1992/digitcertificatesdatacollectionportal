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DM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D3CF3D7-4853-4270-B326-2CF1E807592A}">
  <a:tblStyle styleId="{8D3CF3D7-4853-4270-B326-2CF1E807592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002C3086-1685-49E0-9C5B-863B587A7F38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regular.fntdata"/><Relationship Id="rId11" Type="http://schemas.openxmlformats.org/officeDocument/2006/relationships/slide" Target="slides/slide5.xml"/><Relationship Id="rId22" Type="http://schemas.openxmlformats.org/officeDocument/2006/relationships/font" Target="fonts/DMSans-italic.fntdata"/><Relationship Id="rId10" Type="http://schemas.openxmlformats.org/officeDocument/2006/relationships/slide" Target="slides/slide4.xml"/><Relationship Id="rId21" Type="http://schemas.openxmlformats.org/officeDocument/2006/relationships/font" Target="fonts/DMSans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DM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7b5d5b19c_0_0:notes"/>
          <p:cNvSpPr/>
          <p:nvPr>
            <p:ph idx="2" type="sldImg"/>
          </p:nvPr>
        </p:nvSpPr>
        <p:spPr>
          <a:xfrm>
            <a:off x="196170" y="1143000"/>
            <a:ext cx="64668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86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3e7b5d5b19c_0_0:notes"/>
          <p:cNvSpPr txBox="1"/>
          <p:nvPr>
            <p:ph idx="1" type="body"/>
          </p:nvPr>
        </p:nvSpPr>
        <p:spPr>
          <a:xfrm>
            <a:off x="686566" y="4401092"/>
            <a:ext cx="5486400" cy="3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150" lIns="88300" spcFirstLastPara="1" rIns="88300" wrap="square" tIns="44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3e7b5d5b19c_0_0:notes"/>
          <p:cNvSpPr txBox="1"/>
          <p:nvPr>
            <p:ph idx="12" type="sldNum"/>
          </p:nvPr>
        </p:nvSpPr>
        <p:spPr>
          <a:xfrm>
            <a:off x="3884924" y="8685878"/>
            <a:ext cx="29715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4150" lIns="88300" spcFirstLastPara="1" rIns="88300" wrap="square" tIns="441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c5d7f16a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c5d7f16a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c5d7f16a0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c5d7f16a0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c5d7f16a0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c5d7f16a0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c5d7f16a0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dc5d7f16a0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c5d7f16a0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dc5d7f16a0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c5d7f16a0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dc5d7f16a0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911aa12e9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e911aa12e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6db2a7c72f470487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6db2a7c72f470487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c5d7f16a0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dc5d7f16a0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6db2a7c72f470487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6db2a7c72f470487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6db2a7c72f470487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6db2a7c72f470487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6db2a7c72f470487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6db2a7c72f470487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9_Title Slide">
  <p:cSld name="39_Title Slid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>
            <p:ph idx="2" type="pic"/>
          </p:nvPr>
        </p:nvSpPr>
        <p:spPr>
          <a:xfrm>
            <a:off x="4605258" y="-96641"/>
            <a:ext cx="1743900" cy="2235900"/>
          </a:xfrm>
          <a:prstGeom prst="roundRect">
            <a:avLst>
              <a:gd fmla="val 2465" name="adj"/>
            </a:avLst>
          </a:prstGeom>
          <a:solidFill>
            <a:srgbClr val="F2F2F2">
              <a:alpha val="49799"/>
            </a:srgbClr>
          </a:solidFill>
          <a:ln>
            <a:noFill/>
          </a:ln>
        </p:spPr>
      </p:sp>
      <p:sp>
        <p:nvSpPr>
          <p:cNvPr id="52" name="Google Shape;52;p13"/>
          <p:cNvSpPr/>
          <p:nvPr>
            <p:ph idx="3" type="pic"/>
          </p:nvPr>
        </p:nvSpPr>
        <p:spPr>
          <a:xfrm>
            <a:off x="4605258" y="2260166"/>
            <a:ext cx="1743900" cy="2235900"/>
          </a:xfrm>
          <a:prstGeom prst="roundRect">
            <a:avLst>
              <a:gd fmla="val 2465" name="adj"/>
            </a:avLst>
          </a:prstGeom>
          <a:solidFill>
            <a:srgbClr val="F2F2F2">
              <a:alpha val="49799"/>
            </a:srgbClr>
          </a:solidFill>
          <a:ln>
            <a:noFill/>
          </a:ln>
        </p:spPr>
      </p:sp>
      <p:sp>
        <p:nvSpPr>
          <p:cNvPr id="53" name="Google Shape;53;p13"/>
          <p:cNvSpPr/>
          <p:nvPr>
            <p:ph idx="4" type="pic"/>
          </p:nvPr>
        </p:nvSpPr>
        <p:spPr>
          <a:xfrm>
            <a:off x="6473871" y="647524"/>
            <a:ext cx="1743900" cy="2235900"/>
          </a:xfrm>
          <a:prstGeom prst="roundRect">
            <a:avLst>
              <a:gd fmla="val 2465" name="adj"/>
            </a:avLst>
          </a:prstGeom>
          <a:solidFill>
            <a:srgbClr val="F2F2F2">
              <a:alpha val="49799"/>
            </a:srgbClr>
          </a:solidFill>
          <a:ln>
            <a:noFill/>
          </a:ln>
        </p:spPr>
      </p:sp>
      <p:sp>
        <p:nvSpPr>
          <p:cNvPr id="54" name="Google Shape;54;p13"/>
          <p:cNvSpPr/>
          <p:nvPr>
            <p:ph idx="5" type="pic"/>
          </p:nvPr>
        </p:nvSpPr>
        <p:spPr>
          <a:xfrm>
            <a:off x="6473871" y="3004332"/>
            <a:ext cx="1743900" cy="2235900"/>
          </a:xfrm>
          <a:prstGeom prst="roundRect">
            <a:avLst>
              <a:gd fmla="val 2465" name="adj"/>
            </a:avLst>
          </a:prstGeom>
          <a:solidFill>
            <a:srgbClr val="F2F2F2">
              <a:alpha val="49799"/>
            </a:srgbClr>
          </a:solidFill>
          <a:ln>
            <a:noFill/>
          </a:ln>
        </p:spPr>
      </p:sp>
      <p:pic>
        <p:nvPicPr>
          <p:cNvPr id="55" name="Google Shape;55;p13" title="logo2025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98931" y="4670091"/>
            <a:ext cx="750899" cy="18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www.digitlp.com/Sujog" TargetMode="External"/><Relationship Id="rId4" Type="http://schemas.openxmlformats.org/officeDocument/2006/relationships/hyperlink" Target="http://www.sujog.com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959400" y="2128350"/>
            <a:ext cx="40047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273A80"/>
                </a:solidFill>
                <a:latin typeface="DM Sans"/>
                <a:ea typeface="DM Sans"/>
                <a:cs typeface="DM Sans"/>
                <a:sym typeface="DM Sans"/>
              </a:rPr>
              <a:t>License and Permits</a:t>
            </a:r>
            <a:endParaRPr b="1" sz="2700">
              <a:solidFill>
                <a:srgbClr val="273A8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A collage of people with different poses&#10;&#10;Description automatically generated" id="62" name="Google Shape;6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92616" y="717037"/>
            <a:ext cx="4131484" cy="434041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916798" y="2736296"/>
            <a:ext cx="40047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68521"/>
                </a:solidFill>
                <a:latin typeface="DM Sans"/>
                <a:ea typeface="DM Sans"/>
                <a:cs typeface="DM Sans"/>
                <a:sym typeface="DM Sans"/>
              </a:rPr>
              <a:t>Budgeting</a:t>
            </a:r>
            <a:endParaRPr b="1" sz="2200">
              <a:solidFill>
                <a:srgbClr val="F6852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15"/>
          <p:cNvGrpSpPr/>
          <p:nvPr/>
        </p:nvGrpSpPr>
        <p:grpSpPr>
          <a:xfrm>
            <a:off x="6383875" y="1616326"/>
            <a:ext cx="1159350" cy="3480552"/>
            <a:chOff x="7886700" y="73475"/>
            <a:chExt cx="1159350" cy="3798900"/>
          </a:xfrm>
        </p:grpSpPr>
        <p:sp>
          <p:nvSpPr>
            <p:cNvPr id="69" name="Google Shape;69;p15"/>
            <p:cNvSpPr/>
            <p:nvPr/>
          </p:nvSpPr>
          <p:spPr>
            <a:xfrm>
              <a:off x="8286750" y="207650"/>
              <a:ext cx="759300" cy="3126900"/>
            </a:xfrm>
            <a:prstGeom prst="bracePair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7886700" y="73475"/>
              <a:ext cx="693900" cy="3798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" name="Google Shape;71;p15"/>
          <p:cNvSpPr/>
          <p:nvPr/>
        </p:nvSpPr>
        <p:spPr>
          <a:xfrm>
            <a:off x="1412100" y="499225"/>
            <a:ext cx="2700900" cy="495600"/>
          </a:xfrm>
          <a:prstGeom prst="rect">
            <a:avLst/>
          </a:prstGeom>
          <a:solidFill>
            <a:srgbClr val="273A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7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Phase 1</a:t>
            </a:r>
            <a:endParaRPr b="1" sz="1273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4209400" y="442100"/>
            <a:ext cx="2892600" cy="517500"/>
          </a:xfrm>
          <a:prstGeom prst="rect">
            <a:avLst/>
          </a:prstGeom>
          <a:solidFill>
            <a:srgbClr val="273A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7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Phase 2</a:t>
            </a:r>
            <a:endParaRPr b="1" sz="1273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1430358" y="1070954"/>
            <a:ext cx="2700900" cy="333600"/>
          </a:xfrm>
          <a:prstGeom prst="rect">
            <a:avLst/>
          </a:prstGeom>
          <a:solidFill>
            <a:srgbClr val="F685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Setup, May-July, 2023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4209408" y="1063593"/>
            <a:ext cx="2892600" cy="348300"/>
          </a:xfrm>
          <a:prstGeom prst="rect">
            <a:avLst/>
          </a:prstGeom>
          <a:solidFill>
            <a:srgbClr val="F685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Next Phase, July onwards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1412103" y="1623615"/>
            <a:ext cx="2700900" cy="952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Design and Build of L&amp;P SaaS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latin typeface="DM Sans"/>
                <a:ea typeface="DM Sans"/>
                <a:cs typeface="DM Sans"/>
                <a:sym typeface="DM Sans"/>
              </a:rPr>
              <a:t>Build of the SaaS Application</a:t>
            </a:r>
            <a:endParaRPr i="1" sz="9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1412103" y="2747951"/>
            <a:ext cx="2700900" cy="952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Design and Build of PLG Lifecycle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latin typeface="DM Sans"/>
                <a:ea typeface="DM Sans"/>
                <a:cs typeface="DM Sans"/>
                <a:sym typeface="DM Sans"/>
              </a:rPr>
              <a:t>Everything around the SaaS</a:t>
            </a: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i="1" lang="en" sz="900">
                <a:latin typeface="DM Sans"/>
                <a:ea typeface="DM Sans"/>
                <a:cs typeface="DM Sans"/>
                <a:sym typeface="DM Sans"/>
              </a:rPr>
              <a:t>Application to enable discovery, onboarding, enablement etc</a:t>
            </a:r>
            <a:endParaRPr i="1" sz="9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4308245" y="3047610"/>
            <a:ext cx="2892600" cy="463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Partner Training and Onboarding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latin typeface="DM Sans"/>
                <a:ea typeface="DM Sans"/>
                <a:cs typeface="DM Sans"/>
                <a:sym typeface="DM Sans"/>
              </a:rPr>
              <a:t>To get the partner up and running to manage and configure SaaS</a:t>
            </a:r>
            <a:endParaRPr i="1" sz="9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4276286" y="1616322"/>
            <a:ext cx="2892600" cy="553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L&amp;P SaaS Maintenance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latin typeface="DM Sans"/>
                <a:ea typeface="DM Sans"/>
                <a:cs typeface="DM Sans"/>
                <a:sym typeface="DM Sans"/>
              </a:rPr>
              <a:t>Costs we will incur irrespective of the 1st user being onboarded</a:t>
            </a:r>
            <a:endParaRPr i="1" sz="9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4308245" y="2345302"/>
            <a:ext cx="2892600" cy="553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L&amp;P SaaS Enhancement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latin typeface="DM Sans"/>
                <a:ea typeface="DM Sans"/>
                <a:cs typeface="DM Sans"/>
                <a:sym typeface="DM Sans"/>
              </a:rPr>
              <a:t>Add additional features/functionality into the product based on customer feedback</a:t>
            </a:r>
            <a:endParaRPr i="1" sz="9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4276286" y="4361910"/>
            <a:ext cx="2892600" cy="463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PLG Lifecycle/Demand Gen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latin typeface="DM Sans"/>
                <a:ea typeface="DM Sans"/>
                <a:cs typeface="DM Sans"/>
                <a:sym typeface="DM Sans"/>
              </a:rPr>
              <a:t>Strengthening PLG lifecycle to get more users  onboard 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1412103" y="3872288"/>
            <a:ext cx="2700900" cy="952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Product Launch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latin typeface="DM Sans"/>
                <a:ea typeface="DM Sans"/>
                <a:cs typeface="DM Sans"/>
                <a:sym typeface="DM Sans"/>
              </a:rPr>
              <a:t>Launching the product into the market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4308250" y="3659599"/>
            <a:ext cx="2892600" cy="63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Production Setup and Management (1st 3 Customers)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latin typeface="DM Sans"/>
                <a:ea typeface="DM Sans"/>
                <a:cs typeface="DM Sans"/>
                <a:sym typeface="DM Sans"/>
              </a:rPr>
              <a:t>Costs we will incur from our 1st user being onboarded</a:t>
            </a:r>
            <a:endParaRPr i="1" sz="9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385825" y="702150"/>
            <a:ext cx="1026275" cy="894594"/>
          </a:xfrm>
          <a:custGeom>
            <a:rect b="b" l="l" r="r" t="t"/>
            <a:pathLst>
              <a:path extrusionOk="0" h="50945" w="41051">
                <a:moveTo>
                  <a:pt x="27009" y="50945"/>
                </a:moveTo>
                <a:cubicBezTo>
                  <a:pt x="20656" y="50367"/>
                  <a:pt x="13239" y="48089"/>
                  <a:pt x="9701" y="42781"/>
                </a:cubicBezTo>
                <a:cubicBezTo>
                  <a:pt x="5174" y="35991"/>
                  <a:pt x="5570" y="19958"/>
                  <a:pt x="13619" y="18614"/>
                </a:cubicBezTo>
                <a:cubicBezTo>
                  <a:pt x="19666" y="17605"/>
                  <a:pt x="23633" y="32420"/>
                  <a:pt x="18845" y="36249"/>
                </a:cubicBezTo>
                <a:cubicBezTo>
                  <a:pt x="14220" y="39948"/>
                  <a:pt x="4740" y="36201"/>
                  <a:pt x="1863" y="31024"/>
                </a:cubicBezTo>
                <a:cubicBezTo>
                  <a:pt x="-111" y="27471"/>
                  <a:pt x="-60" y="22995"/>
                  <a:pt x="230" y="18941"/>
                </a:cubicBezTo>
                <a:cubicBezTo>
                  <a:pt x="1300" y="3979"/>
                  <a:pt x="26051" y="0"/>
                  <a:pt x="41051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84" name="Google Shape;84;p15"/>
          <p:cNvSpPr txBox="1"/>
          <p:nvPr/>
        </p:nvSpPr>
        <p:spPr>
          <a:xfrm>
            <a:off x="81225" y="1596750"/>
            <a:ext cx="1167600" cy="14508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This is the cost we </a:t>
            </a:r>
            <a:r>
              <a:rPr b="1" lang="en"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incur now for next 3 months. Costs are certain</a:t>
            </a:r>
            <a:endParaRPr b="1"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7739625" y="1662000"/>
            <a:ext cx="1167600" cy="30405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Each of these are individual items that can be kickstarted as things move.. Higher degree of uncertainty as operational model is still being figured</a:t>
            </a:r>
            <a:endParaRPr b="1"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/>
          <p:nvPr/>
        </p:nvSpPr>
        <p:spPr>
          <a:xfrm rot="-2430698">
            <a:off x="-1230322" y="304053"/>
            <a:ext cx="3410086" cy="465349"/>
          </a:xfrm>
          <a:prstGeom prst="rect">
            <a:avLst/>
          </a:prstGeom>
          <a:solidFill>
            <a:srgbClr val="273A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7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Phase 1</a:t>
            </a:r>
            <a:endParaRPr b="1" sz="1273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1" name="Google Shape;91;p16"/>
          <p:cNvSpPr/>
          <p:nvPr/>
        </p:nvSpPr>
        <p:spPr>
          <a:xfrm rot="-2441425">
            <a:off x="-965871" y="769322"/>
            <a:ext cx="3410118" cy="31316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Setup, May-July, 2023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2174000" y="134175"/>
            <a:ext cx="2039100" cy="458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61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DM Sans"/>
                <a:ea typeface="DM Sans"/>
                <a:cs typeface="DM Sans"/>
                <a:sym typeface="DM Sans"/>
              </a:rPr>
              <a:t>Design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" sz="1000">
                <a:latin typeface="DM Sans"/>
                <a:ea typeface="DM Sans"/>
                <a:cs typeface="DM Sans"/>
                <a:sym typeface="DM Sans"/>
              </a:rPr>
              <a:t>and Build of L&amp;P SaaS</a:t>
            </a:r>
            <a:endParaRPr sz="10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4294700" y="131925"/>
            <a:ext cx="2136900" cy="503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DM Sans"/>
                <a:ea typeface="DM Sans"/>
                <a:cs typeface="DM Sans"/>
                <a:sym typeface="DM Sans"/>
              </a:rPr>
              <a:t>Design and Build of PLG Lifecycle</a:t>
            </a:r>
            <a:endParaRPr sz="1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4" name="Google Shape;94;p16"/>
          <p:cNvSpPr/>
          <p:nvPr/>
        </p:nvSpPr>
        <p:spPr>
          <a:xfrm rot="10795258">
            <a:off x="2280027" y="606140"/>
            <a:ext cx="217500" cy="138600"/>
          </a:xfrm>
          <a:prstGeom prst="triangle">
            <a:avLst>
              <a:gd fmla="val 50000" name="adj"/>
            </a:avLst>
          </a:prstGeom>
          <a:solidFill>
            <a:srgbClr val="FF9900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1869825" y="1037075"/>
            <a:ext cx="3562500" cy="4581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Configurable Templates for 2 Types of Licences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(License: Trade License + 1 more TBD )</a:t>
            </a:r>
            <a:endParaRPr sz="1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1879475" y="1533200"/>
            <a:ext cx="3562500" cy="2358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DM Sans"/>
                <a:ea typeface="DM Sans"/>
                <a:cs typeface="DM Sans"/>
                <a:sym typeface="DM Sans"/>
              </a:rPr>
              <a:t>Interface for Account Admin, Employee and Citizens</a:t>
            </a:r>
            <a:endParaRPr sz="1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5506525" y="1037075"/>
            <a:ext cx="3562500" cy="4581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DM Sans"/>
                <a:ea typeface="DM Sans"/>
                <a:cs typeface="DM Sans"/>
                <a:sym typeface="DM Sans"/>
              </a:rPr>
              <a:t>Ability for SaaS Admin to Create additional templates via  </a:t>
            </a:r>
            <a:br>
              <a:rPr lang="en" sz="1000">
                <a:latin typeface="DM Sans"/>
                <a:ea typeface="DM Sans"/>
                <a:cs typeface="DM Sans"/>
                <a:sym typeface="DM Sans"/>
              </a:rPr>
            </a:br>
            <a:endParaRPr sz="1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5506525" y="1533200"/>
            <a:ext cx="3562500" cy="2358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DM Sans"/>
                <a:ea typeface="DM Sans"/>
                <a:cs typeface="DM Sans"/>
                <a:sym typeface="DM Sans"/>
              </a:rPr>
              <a:t>Interface for SaaS Admin</a:t>
            </a:r>
            <a:endParaRPr sz="1000"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99" name="Google Shape;99;p16"/>
          <p:cNvGraphicFramePr/>
          <p:nvPr/>
        </p:nvGraphicFramePr>
        <p:xfrm>
          <a:off x="551475" y="1846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{8D3CF3D7-4853-4270-B326-2CF1E807592A}</a:tableStyleId>
              </a:tblPr>
              <a:tblGrid>
                <a:gridCol w="1328000"/>
                <a:gridCol w="3627050"/>
                <a:gridCol w="3562500"/>
              </a:tblGrid>
              <a:tr h="890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Onboarding</a:t>
                      </a:r>
                      <a:endParaRPr sz="900">
                        <a:solidFill>
                          <a:schemeClr val="dk2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00"/>
                        <a:buFont typeface="DM Sans"/>
                        <a:buChar char="-"/>
                      </a:pPr>
                      <a:r>
                        <a:rPr lang="en" sz="9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Partner to setup new account/government</a:t>
                      </a:r>
                      <a:endParaRPr sz="9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2857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00"/>
                        <a:buFont typeface="DM Sans"/>
                        <a:buChar char="-"/>
                      </a:pPr>
                      <a:r>
                        <a:rPr lang="en" sz="9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Monitoring of usage (no. of users/transactions) per account</a:t>
                      </a:r>
                      <a:endParaRPr sz="9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2857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00"/>
                        <a:buFont typeface="DM Sans"/>
                        <a:buChar char="-"/>
                      </a:pPr>
                      <a:r>
                        <a:rPr lang="en" sz="9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Configurable Domain: </a:t>
                      </a:r>
                      <a:r>
                        <a:rPr lang="en" sz="900">
                          <a:uFill>
                            <a:noFill/>
                          </a:uFill>
                          <a:latin typeface="DM Sans"/>
                          <a:ea typeface="DM Sans"/>
                          <a:cs typeface="DM Sans"/>
                          <a:sym typeface="DM Sans"/>
                          <a:hlinkClick r:id="rId3"/>
                        </a:rPr>
                        <a:t>www.digitLp.com/Sujog</a:t>
                      </a:r>
                      <a:endParaRPr sz="9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857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00"/>
                        <a:buFont typeface="DM Sans"/>
                        <a:buChar char="-"/>
                      </a:pPr>
                      <a:r>
                        <a:rPr lang="en" sz="9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Self Onboarding by end users</a:t>
                      </a:r>
                      <a:endParaRPr sz="9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2857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00"/>
                        <a:buFont typeface="DM Sans"/>
                        <a:buChar char="-"/>
                      </a:pPr>
                      <a:r>
                        <a:rPr lang="en" sz="9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Billing and Payment for SaaS</a:t>
                      </a:r>
                      <a:endParaRPr sz="9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2857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00"/>
                        <a:buFont typeface="DM Sans"/>
                        <a:buChar char="-"/>
                      </a:pPr>
                      <a:r>
                        <a:rPr lang="en" sz="9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Hosting on own domain - </a:t>
                      </a:r>
                      <a:r>
                        <a:rPr lang="en" sz="900">
                          <a:uFill>
                            <a:noFill/>
                          </a:uFill>
                          <a:latin typeface="DM Sans"/>
                          <a:ea typeface="DM Sans"/>
                          <a:cs typeface="DM Sans"/>
                          <a:sym typeface="DM Sans"/>
                          <a:hlinkClick r:id="rId4"/>
                        </a:rPr>
                        <a:t>www.sujog.com</a:t>
                      </a:r>
                      <a:endParaRPr sz="9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2857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00"/>
                        <a:buFont typeface="DM Sans"/>
                        <a:buChar char="-"/>
                      </a:pPr>
                      <a:r>
                        <a:rPr lang="en" sz="9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Support for Subaccounts (Puri within Sujog) -Forever</a:t>
                      </a:r>
                      <a:endParaRPr sz="9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SaaS Instance Setup</a:t>
                      </a:r>
                      <a:endParaRPr sz="900">
                        <a:solidFill>
                          <a:schemeClr val="dk2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00"/>
                        <a:buFont typeface="DM Sans"/>
                        <a:buChar char="-"/>
                      </a:pPr>
                      <a:r>
                        <a:rPr lang="en" sz="9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Preselection between available themes</a:t>
                      </a:r>
                      <a:endParaRPr sz="9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2857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00"/>
                        <a:buFont typeface="DM Sans"/>
                        <a:buChar char="-"/>
                      </a:pPr>
                      <a:r>
                        <a:rPr lang="en" sz="9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Out of the Box SMS and Email Adaptor - 1</a:t>
                      </a:r>
                      <a:endParaRPr sz="9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857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00"/>
                        <a:buFont typeface="DM Sans"/>
                        <a:buChar char="-"/>
                      </a:pPr>
                      <a:r>
                        <a:rPr lang="en" sz="9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Creation of completely new theme</a:t>
                      </a:r>
                      <a:endParaRPr sz="9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2857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00"/>
                        <a:buFont typeface="DM Sans"/>
                        <a:buChar char="-"/>
                      </a:pPr>
                      <a:r>
                        <a:rPr lang="en" sz="9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Support for Custom SMS and Email Adaptors</a:t>
                      </a:r>
                      <a:endParaRPr sz="9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2857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00"/>
                        <a:buFont typeface="DM Sans"/>
                        <a:buChar char="-"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Enabling SSO based login for users (gmail)/ </a:t>
                      </a:r>
                      <a:r>
                        <a:rPr lang="en" sz="9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Integration with Active Directory</a:t>
                      </a:r>
                      <a:endParaRPr sz="9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64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Core Application Features</a:t>
                      </a:r>
                      <a:endParaRPr sz="900">
                        <a:solidFill>
                          <a:schemeClr val="dk2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DM Sans"/>
                        <a:buChar char="-"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Multiple modules in 1 template: License Application and Renewal Workflows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2857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DM Sans"/>
                        <a:buChar char="-"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Configuration of Existing Templates (Console)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2857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DM Sans"/>
                        <a:buChar char="-"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Payments - Out of the box payment Logic and Adaptor for Payment Gateway Integration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2857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DM Sans"/>
                        <a:buChar char="-"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Standard Certificate Template (with customizable logo and content) with QR Code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2857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DM Sans"/>
                        <a:buChar char="-"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Basic out of the box dashboard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2857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DM Sans"/>
                        <a:buChar char="-"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Audit Trails (Specific TBD)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-2857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DM Sans"/>
                        <a:buChar char="-"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Support for Parallel workflows/escalation logics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2857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DM Sans"/>
                        <a:buChar char="-"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Mobile app for specific actors/offline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2857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DM Sans"/>
                        <a:buChar char="-"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Creation of new payment logics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2857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DM Sans"/>
                        <a:buChar char="-"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Changing Format of Certificate Template, Verifiable Credentials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100" name="Google Shape;100;p16"/>
          <p:cNvSpPr/>
          <p:nvPr/>
        </p:nvSpPr>
        <p:spPr>
          <a:xfrm>
            <a:off x="6513200" y="134175"/>
            <a:ext cx="2136900" cy="503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DM Sans"/>
                <a:ea typeface="DM Sans"/>
                <a:cs typeface="DM Sans"/>
                <a:sym typeface="DM Sans"/>
              </a:rPr>
              <a:t>Product Launch</a:t>
            </a:r>
            <a:endParaRPr sz="10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/>
          <p:nvPr/>
        </p:nvSpPr>
        <p:spPr>
          <a:xfrm rot="-2430698">
            <a:off x="-1230322" y="304053"/>
            <a:ext cx="3410086" cy="465349"/>
          </a:xfrm>
          <a:prstGeom prst="rect">
            <a:avLst/>
          </a:prstGeom>
          <a:solidFill>
            <a:srgbClr val="273A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7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Phase 1</a:t>
            </a:r>
            <a:endParaRPr b="1" sz="1273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6" name="Google Shape;106;p17"/>
          <p:cNvSpPr/>
          <p:nvPr/>
        </p:nvSpPr>
        <p:spPr>
          <a:xfrm rot="-2441425">
            <a:off x="-965871" y="769322"/>
            <a:ext cx="3410118" cy="31316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Setup, May-July, 2023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2174000" y="134175"/>
            <a:ext cx="2039100" cy="458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61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DM Sans"/>
                <a:ea typeface="DM Sans"/>
                <a:cs typeface="DM Sans"/>
                <a:sym typeface="DM Sans"/>
              </a:rPr>
              <a:t>Design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" sz="1000">
                <a:latin typeface="DM Sans"/>
                <a:ea typeface="DM Sans"/>
                <a:cs typeface="DM Sans"/>
                <a:sym typeface="DM Sans"/>
              </a:rPr>
              <a:t>and Build of L&amp;P SaaS</a:t>
            </a:r>
            <a:endParaRPr sz="10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4294700" y="131925"/>
            <a:ext cx="2136900" cy="503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DM Sans"/>
                <a:ea typeface="DM Sans"/>
                <a:cs typeface="DM Sans"/>
                <a:sym typeface="DM Sans"/>
              </a:rPr>
              <a:t>Design and Build of PLG Lifecycle</a:t>
            </a:r>
            <a:endParaRPr sz="1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9" name="Google Shape;109;p17"/>
          <p:cNvSpPr/>
          <p:nvPr/>
        </p:nvSpPr>
        <p:spPr>
          <a:xfrm rot="10795258">
            <a:off x="2280027" y="606140"/>
            <a:ext cx="217500" cy="138600"/>
          </a:xfrm>
          <a:prstGeom prst="triangle">
            <a:avLst>
              <a:gd fmla="val 50000" name="adj"/>
            </a:avLst>
          </a:prstGeom>
          <a:solidFill>
            <a:srgbClr val="FF9900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1869825" y="1037075"/>
            <a:ext cx="3562500" cy="4581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Configurable Templates for 2 Types of Licences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(License: Trade License + 1 more TBD )</a:t>
            </a:r>
            <a:endParaRPr sz="1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1879475" y="1533200"/>
            <a:ext cx="3562500" cy="2358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DM Sans"/>
                <a:ea typeface="DM Sans"/>
                <a:cs typeface="DM Sans"/>
                <a:sym typeface="DM Sans"/>
              </a:rPr>
              <a:t>Interface for Account Admin, Employee and Citizens</a:t>
            </a:r>
            <a:endParaRPr sz="1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5506525" y="1037075"/>
            <a:ext cx="3562500" cy="4581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DM Sans"/>
                <a:ea typeface="DM Sans"/>
                <a:cs typeface="DM Sans"/>
                <a:sym typeface="DM Sans"/>
              </a:rPr>
              <a:t>Ability for SaaS Admin to Create additional templates via  </a:t>
            </a:r>
            <a:br>
              <a:rPr lang="en" sz="1000">
                <a:latin typeface="DM Sans"/>
                <a:ea typeface="DM Sans"/>
                <a:cs typeface="DM Sans"/>
                <a:sym typeface="DM Sans"/>
              </a:rPr>
            </a:br>
            <a:endParaRPr sz="1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5506525" y="1533200"/>
            <a:ext cx="3562500" cy="2358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DM Sans"/>
                <a:ea typeface="DM Sans"/>
                <a:cs typeface="DM Sans"/>
                <a:sym typeface="DM Sans"/>
              </a:rPr>
              <a:t>Interface for SaaS Admin</a:t>
            </a:r>
            <a:endParaRPr sz="1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6513200" y="134175"/>
            <a:ext cx="2136900" cy="503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DM Sans"/>
                <a:ea typeface="DM Sans"/>
                <a:cs typeface="DM Sans"/>
                <a:sym typeface="DM Sans"/>
              </a:rPr>
              <a:t>Product Launch</a:t>
            </a:r>
            <a:endParaRPr sz="1000"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115" name="Google Shape;115;p17"/>
          <p:cNvGraphicFramePr/>
          <p:nvPr/>
        </p:nvGraphicFramePr>
        <p:xfrm>
          <a:off x="479900" y="189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{8D3CF3D7-4853-4270-B326-2CF1E807592A}</a:tableStyleId>
              </a:tblPr>
              <a:tblGrid>
                <a:gridCol w="1328000"/>
                <a:gridCol w="3627050"/>
                <a:gridCol w="3562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Documentation</a:t>
                      </a:r>
                      <a:endParaRPr sz="1000">
                        <a:solidFill>
                          <a:schemeClr val="dk2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000"/>
                        <a:buFont typeface="DM Sans"/>
                        <a:buChar char="-"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Extensive Product and Tech Documentation</a:t>
                      </a:r>
                      <a:endParaRPr sz="1000">
                        <a:solidFill>
                          <a:schemeClr val="dk2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000"/>
                        <a:buFont typeface="DM Sans"/>
                        <a:buChar char="-"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SOPs for Development, Deployment, Rollback and Recovery, Testing (Prioritized as immediate step post MVP)</a:t>
                      </a:r>
                      <a:endParaRPr sz="1000">
                        <a:solidFill>
                          <a:schemeClr val="dk2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2286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2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Extensibility and Support for Customization</a:t>
                      </a:r>
                      <a:endParaRPr sz="1000">
                        <a:solidFill>
                          <a:schemeClr val="dk2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Font typeface="DM Sans"/>
                        <a:buChar char="-"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Architecture design for future support of Plugins and Extensions</a:t>
                      </a:r>
                      <a:endParaRPr sz="1000">
                        <a:solidFill>
                          <a:schemeClr val="dk2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000"/>
                        <a:buFont typeface="DM Sans"/>
                        <a:buChar char="-"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Integration strategy for replication of data to self managed Databases</a:t>
                      </a:r>
                      <a:endParaRPr sz="1000">
                        <a:solidFill>
                          <a:schemeClr val="dk2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2921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000"/>
                        <a:buFont typeface="DM Sans"/>
                        <a:buChar char="-"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Migration Strategy to Self hosted infra </a:t>
                      </a:r>
                      <a:endParaRPr sz="1000">
                        <a:solidFill>
                          <a:schemeClr val="dk2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Accessibility and Usability</a:t>
                      </a:r>
                      <a:endParaRPr sz="1000">
                        <a:solidFill>
                          <a:schemeClr val="dk2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921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000"/>
                        <a:buFont typeface="DM Sans"/>
                        <a:buChar char="-"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WCAG AA Compliance</a:t>
                      </a:r>
                      <a:endParaRPr sz="1000">
                        <a:solidFill>
                          <a:schemeClr val="dk2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2921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000"/>
                        <a:buFont typeface="DM Sans"/>
                        <a:buChar char="-"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Usage Analytics/Telemetry Dashboards</a:t>
                      </a:r>
                      <a:endParaRPr sz="1000">
                        <a:solidFill>
                          <a:schemeClr val="dk2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2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Performance and Security</a:t>
                      </a:r>
                      <a:endParaRPr sz="1000">
                        <a:solidFill>
                          <a:schemeClr val="dk2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921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000"/>
                        <a:buFont typeface="DM Sans"/>
                        <a:buChar char="-"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Uptime of 95%</a:t>
                      </a:r>
                      <a:endParaRPr sz="1000">
                        <a:solidFill>
                          <a:schemeClr val="dk2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2921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000"/>
                        <a:buFont typeface="DM Sans"/>
                        <a:buChar char="-"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Automated Deployment Pipelines</a:t>
                      </a:r>
                      <a:endParaRPr sz="1000">
                        <a:solidFill>
                          <a:schemeClr val="dk2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2921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000"/>
                        <a:buFont typeface="DM Sans"/>
                        <a:buChar char="-"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Observability Dashboard</a:t>
                      </a:r>
                      <a:endParaRPr sz="1000">
                        <a:solidFill>
                          <a:schemeClr val="dk2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921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000"/>
                        <a:buFont typeface="DM Sans"/>
                        <a:buChar char="-"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Specific Security Certifications</a:t>
                      </a:r>
                      <a:endParaRPr sz="1000">
                        <a:solidFill>
                          <a:schemeClr val="dk2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/>
          <p:nvPr/>
        </p:nvSpPr>
        <p:spPr>
          <a:xfrm rot="-2430698">
            <a:off x="-1230322" y="304053"/>
            <a:ext cx="3410086" cy="465349"/>
          </a:xfrm>
          <a:prstGeom prst="rect">
            <a:avLst/>
          </a:prstGeom>
          <a:solidFill>
            <a:srgbClr val="273A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7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Phase 1</a:t>
            </a:r>
            <a:endParaRPr b="1" sz="1273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1" name="Google Shape;121;p18"/>
          <p:cNvSpPr/>
          <p:nvPr/>
        </p:nvSpPr>
        <p:spPr>
          <a:xfrm rot="-2441425">
            <a:off x="-965871" y="769322"/>
            <a:ext cx="3410118" cy="31316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Setup, May-July, 2023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2194825" y="156675"/>
            <a:ext cx="2039100" cy="458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DM Sans"/>
                <a:ea typeface="DM Sans"/>
                <a:cs typeface="DM Sans"/>
                <a:sym typeface="DM Sans"/>
              </a:rPr>
              <a:t>Design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" sz="1000">
                <a:latin typeface="DM Sans"/>
                <a:ea typeface="DM Sans"/>
                <a:cs typeface="DM Sans"/>
                <a:sym typeface="DM Sans"/>
              </a:rPr>
              <a:t>and Build of L&amp;P SaaS</a:t>
            </a:r>
            <a:endParaRPr sz="10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4294700" y="131925"/>
            <a:ext cx="2136900" cy="503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61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DM Sans"/>
                <a:ea typeface="DM Sans"/>
                <a:cs typeface="DM Sans"/>
                <a:sym typeface="DM Sans"/>
              </a:rPr>
              <a:t>Design and Build of PLG Lifecycle</a:t>
            </a:r>
            <a:endParaRPr sz="1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1869825" y="1037075"/>
            <a:ext cx="3562500" cy="4581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Configurable Templates for 2 Types of Licences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(License: Trade License + 1 more TBD )</a:t>
            </a:r>
            <a:endParaRPr sz="1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1879475" y="1533200"/>
            <a:ext cx="3562500" cy="2358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DM Sans"/>
                <a:ea typeface="DM Sans"/>
                <a:cs typeface="DM Sans"/>
                <a:sym typeface="DM Sans"/>
              </a:rPr>
              <a:t>Interface for Account Admin, Employee and Citizens</a:t>
            </a:r>
            <a:endParaRPr sz="1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5506525" y="1037075"/>
            <a:ext cx="3562500" cy="4581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DM Sans"/>
                <a:ea typeface="DM Sans"/>
                <a:cs typeface="DM Sans"/>
                <a:sym typeface="DM Sans"/>
              </a:rPr>
              <a:t>Ability for SaaS Admin to Create additional templates via  </a:t>
            </a:r>
            <a:br>
              <a:rPr lang="en" sz="1000">
                <a:latin typeface="DM Sans"/>
                <a:ea typeface="DM Sans"/>
                <a:cs typeface="DM Sans"/>
                <a:sym typeface="DM Sans"/>
              </a:rPr>
            </a:br>
            <a:endParaRPr sz="1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5506525" y="1533200"/>
            <a:ext cx="3562500" cy="2358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DM Sans"/>
                <a:ea typeface="DM Sans"/>
                <a:cs typeface="DM Sans"/>
                <a:sym typeface="DM Sans"/>
              </a:rPr>
              <a:t>Interface for SaaS Admin</a:t>
            </a:r>
            <a:endParaRPr sz="1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6513200" y="134175"/>
            <a:ext cx="2136900" cy="503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DM Sans"/>
                <a:ea typeface="DM Sans"/>
                <a:cs typeface="DM Sans"/>
                <a:sym typeface="DM Sans"/>
              </a:rPr>
              <a:t>Product Launch</a:t>
            </a:r>
            <a:endParaRPr sz="1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9" name="Google Shape;129;p18"/>
          <p:cNvSpPr/>
          <p:nvPr/>
        </p:nvSpPr>
        <p:spPr>
          <a:xfrm rot="10795258">
            <a:off x="4463252" y="637415"/>
            <a:ext cx="217500" cy="138600"/>
          </a:xfrm>
          <a:prstGeom prst="triangle">
            <a:avLst>
              <a:gd fmla="val 50000" name="adj"/>
            </a:avLst>
          </a:prstGeom>
          <a:solidFill>
            <a:srgbClr val="FF9900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30" name="Google Shape;130;p18"/>
          <p:cNvGraphicFramePr/>
          <p:nvPr/>
        </p:nvGraphicFramePr>
        <p:xfrm>
          <a:off x="551475" y="189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{8D3CF3D7-4853-4270-B326-2CF1E807592A}</a:tableStyleId>
              </a:tblPr>
              <a:tblGrid>
                <a:gridCol w="1328000"/>
                <a:gridCol w="3627050"/>
                <a:gridCol w="3562500"/>
              </a:tblGrid>
              <a:tr h="330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GTM</a:t>
                      </a:r>
                      <a:endParaRPr sz="1100">
                        <a:solidFill>
                          <a:schemeClr val="dk2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921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000"/>
                        <a:buFont typeface="DM Sans"/>
                        <a:buChar char="-"/>
                      </a:pPr>
                      <a:r>
                        <a:rPr lang="en" sz="10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Website/Landing Page</a:t>
                      </a:r>
                      <a:endParaRPr sz="10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2921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000"/>
                        <a:buFont typeface="DM Sans"/>
                        <a:buChar char="-"/>
                      </a:pPr>
                      <a:r>
                        <a:rPr lang="en" sz="10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Value Proposition Pitch Doc and Video</a:t>
                      </a:r>
                      <a:endParaRPr sz="10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DM Sans"/>
                        <a:buChar char="-"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Demo Environment/Sandbox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DM Sans"/>
                        <a:buChar char="-"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Comparison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DM Sans"/>
                        <a:buChar char="-"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Font typeface="DM Sans"/>
                        <a:buChar char="-"/>
                      </a:pPr>
                      <a:r>
                        <a:rPr lang="en" sz="10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Optimization for any channels (say SEO)</a:t>
                      </a:r>
                      <a:endParaRPr sz="10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2921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9CB9C"/>
                        </a:buClr>
                        <a:buSzPts val="1000"/>
                        <a:buFont typeface="DM Sans"/>
                        <a:buChar char="-"/>
                      </a:pPr>
                      <a:r>
                        <a:rPr lang="en" sz="1000">
                          <a:solidFill>
                            <a:srgbClr val="F9CB9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Funnel Setup and Tracking across assets</a:t>
                      </a:r>
                      <a:endParaRPr sz="1000">
                        <a:solidFill>
                          <a:srgbClr val="F9CB9C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2921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Font typeface="DM Sans"/>
                        <a:buChar char="-"/>
                      </a:pPr>
                      <a:r>
                        <a:rPr lang="en" sz="10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Any calculators/Templates for Legal Contracts/MoUs etc</a:t>
                      </a:r>
                      <a:endParaRPr sz="10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2921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Font typeface="DM Sans"/>
                        <a:buChar char="-"/>
                      </a:pPr>
                      <a:r>
                        <a:rPr lang="en" sz="10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Blogs/Whitepapers</a:t>
                      </a:r>
                      <a:endParaRPr sz="10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/>
          <p:nvPr/>
        </p:nvSpPr>
        <p:spPr>
          <a:xfrm rot="-2430698">
            <a:off x="-1230322" y="304053"/>
            <a:ext cx="3410086" cy="465349"/>
          </a:xfrm>
          <a:prstGeom prst="rect">
            <a:avLst/>
          </a:prstGeom>
          <a:solidFill>
            <a:srgbClr val="273A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7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Phase 1</a:t>
            </a:r>
            <a:endParaRPr b="1" sz="1273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6" name="Google Shape;136;p19"/>
          <p:cNvSpPr/>
          <p:nvPr/>
        </p:nvSpPr>
        <p:spPr>
          <a:xfrm rot="-2441425">
            <a:off x="-965871" y="769322"/>
            <a:ext cx="3410118" cy="31316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Setup, May-July, 2023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2194825" y="156675"/>
            <a:ext cx="2039100" cy="458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DM Sans"/>
                <a:ea typeface="DM Sans"/>
                <a:cs typeface="DM Sans"/>
                <a:sym typeface="DM Sans"/>
              </a:rPr>
              <a:t>Design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" sz="1000">
                <a:latin typeface="DM Sans"/>
                <a:ea typeface="DM Sans"/>
                <a:cs typeface="DM Sans"/>
                <a:sym typeface="DM Sans"/>
              </a:rPr>
              <a:t>and Build of L&amp;P SaaS</a:t>
            </a:r>
            <a:endParaRPr sz="10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4294700" y="131925"/>
            <a:ext cx="2136900" cy="503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DM Sans"/>
                <a:ea typeface="DM Sans"/>
                <a:cs typeface="DM Sans"/>
                <a:sym typeface="DM Sans"/>
              </a:rPr>
              <a:t>Design and Build of PLG Lifecycle</a:t>
            </a:r>
            <a:endParaRPr sz="1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1869825" y="1037075"/>
            <a:ext cx="3562500" cy="4581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Configurable Templates for 2 Types of Licences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(License: Trade License + 1 more TBD )</a:t>
            </a:r>
            <a:endParaRPr sz="1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1879475" y="1533200"/>
            <a:ext cx="3562500" cy="2358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DM Sans"/>
                <a:ea typeface="DM Sans"/>
                <a:cs typeface="DM Sans"/>
                <a:sym typeface="DM Sans"/>
              </a:rPr>
              <a:t>Interface for Account Admin, Employee and Citizens</a:t>
            </a:r>
            <a:endParaRPr sz="1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5506525" y="1037075"/>
            <a:ext cx="3562500" cy="4581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DM Sans"/>
                <a:ea typeface="DM Sans"/>
                <a:cs typeface="DM Sans"/>
                <a:sym typeface="DM Sans"/>
              </a:rPr>
              <a:t>Ability for SaaS Admin to Create additional templates via  </a:t>
            </a:r>
            <a:br>
              <a:rPr lang="en" sz="1000">
                <a:latin typeface="DM Sans"/>
                <a:ea typeface="DM Sans"/>
                <a:cs typeface="DM Sans"/>
                <a:sym typeface="DM Sans"/>
              </a:rPr>
            </a:br>
            <a:endParaRPr sz="1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5506525" y="1533200"/>
            <a:ext cx="3562500" cy="2358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DM Sans"/>
                <a:ea typeface="DM Sans"/>
                <a:cs typeface="DM Sans"/>
                <a:sym typeface="DM Sans"/>
              </a:rPr>
              <a:t>Interface for SaaS Admin</a:t>
            </a:r>
            <a:endParaRPr sz="1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6513200" y="134175"/>
            <a:ext cx="2136900" cy="503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61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DM Sans"/>
                <a:ea typeface="DM Sans"/>
                <a:cs typeface="DM Sans"/>
                <a:sym typeface="DM Sans"/>
              </a:rPr>
              <a:t>Product Launch</a:t>
            </a:r>
            <a:endParaRPr sz="1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4" name="Google Shape;144;p19"/>
          <p:cNvSpPr/>
          <p:nvPr/>
        </p:nvSpPr>
        <p:spPr>
          <a:xfrm rot="10795258">
            <a:off x="6703201" y="637415"/>
            <a:ext cx="217500" cy="138600"/>
          </a:xfrm>
          <a:prstGeom prst="triangle">
            <a:avLst>
              <a:gd fmla="val 50000" name="adj"/>
            </a:avLst>
          </a:prstGeom>
          <a:solidFill>
            <a:srgbClr val="FF9900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45" name="Google Shape;145;p19"/>
          <p:cNvGraphicFramePr/>
          <p:nvPr/>
        </p:nvGraphicFramePr>
        <p:xfrm>
          <a:off x="551475" y="189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{8D3CF3D7-4853-4270-B326-2CF1E807592A}</a:tableStyleId>
              </a:tblPr>
              <a:tblGrid>
                <a:gridCol w="1328000"/>
                <a:gridCol w="3627050"/>
                <a:gridCol w="3562500"/>
              </a:tblGrid>
              <a:tr h="449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GTM</a:t>
                      </a:r>
                      <a:endParaRPr sz="1100">
                        <a:solidFill>
                          <a:schemeClr val="dk2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DM Sans"/>
                        <a:buChar char="-"/>
                      </a:pPr>
                      <a:r>
                        <a:rPr lang="en" sz="10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 Virtual Launch event (with partnership team)</a:t>
                      </a:r>
                      <a:endParaRPr sz="10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Font typeface="DM Sans"/>
                        <a:buChar char="-"/>
                      </a:pPr>
                      <a:r>
                        <a:rPr lang="en" sz="10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 webinar with a partner (maybe UN habitat) - Virtual</a:t>
                      </a:r>
                      <a:endParaRPr sz="10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Font typeface="DM Sans"/>
                        <a:buChar char="-"/>
                      </a:pPr>
                      <a:r>
                        <a:rPr lang="en" sz="10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Physical Events</a:t>
                      </a:r>
                      <a:endParaRPr sz="10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2921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Font typeface="DM Sans"/>
                        <a:buChar char="-"/>
                      </a:pPr>
                      <a:r>
                        <a:rPr lang="en" sz="10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Social Media/marketing campaigns</a:t>
                      </a:r>
                      <a:endParaRPr sz="10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0" name="Google Shape;150;p20"/>
          <p:cNvGraphicFramePr/>
          <p:nvPr/>
        </p:nvGraphicFramePr>
        <p:xfrm>
          <a:off x="235725" y="127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{002C3086-1685-49E0-9C5B-863B587A7F38}</a:tableStyleId>
              </a:tblPr>
              <a:tblGrid>
                <a:gridCol w="841025"/>
                <a:gridCol w="1157550"/>
                <a:gridCol w="1700150"/>
                <a:gridCol w="1311275"/>
                <a:gridCol w="1211800"/>
                <a:gridCol w="804850"/>
                <a:gridCol w="461200"/>
                <a:gridCol w="533550"/>
                <a:gridCol w="651125"/>
              </a:tblGrid>
              <a:tr h="581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Phase</a:t>
                      </a:r>
                      <a:endParaRPr b="1" sz="12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Theme</a:t>
                      </a:r>
                      <a:endParaRPr b="1" sz="12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Headers</a:t>
                      </a:r>
                      <a:endParaRPr b="1" sz="12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Sub Headers</a:t>
                      </a:r>
                      <a:endParaRPr b="1" sz="12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Internal/External</a:t>
                      </a:r>
                      <a:endParaRPr b="1" sz="12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M1 (in L INR)</a:t>
                      </a:r>
                      <a:endParaRPr b="1" sz="12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M2 (in L INR)</a:t>
                      </a:r>
                      <a:endParaRPr b="1" sz="12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M3 (in L INR)</a:t>
                      </a:r>
                      <a:endParaRPr b="1" sz="12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Total Cost (in L INR)</a:t>
                      </a:r>
                      <a:endParaRPr b="1" sz="12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</a:tr>
              <a:tr h="228600">
                <a:tc rowSpan="1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D1C1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Phase 1</a:t>
                      </a:r>
                      <a:endParaRPr sz="1100">
                        <a:solidFill>
                          <a:srgbClr val="1D1C1D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7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D1C1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Design and Build of L&amp;P SaaS</a:t>
                      </a:r>
                      <a:endParaRPr sz="1100">
                        <a:solidFill>
                          <a:srgbClr val="1D1C1D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D1C1D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POD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Internal Resources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Internal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18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22860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Build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Engineering Partner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External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14.3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14.3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14.3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43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36195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Infra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Development Environment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Internal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0.65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0.65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0.65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1.95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22860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Infra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QA Environment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Internal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0.65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0.65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0.65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1.95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22860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Infra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UAT/Sandbox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Internal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22860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Tools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Telemetry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External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0.02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0.02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288475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D1C1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Certifications, if any.</a:t>
                      </a:r>
                      <a:endParaRPr sz="1100">
                        <a:solidFill>
                          <a:srgbClr val="1D1C1D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WCAG 2.0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Internal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228600">
                <a:tc vMerge="1"/>
                <a:tc row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D1C1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Design and Build of PLG Lifecycle</a:t>
                      </a:r>
                      <a:endParaRPr sz="1100">
                        <a:solidFill>
                          <a:srgbClr val="1D1C1D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D1C1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Marketing and Marketing Assets</a:t>
                      </a:r>
                      <a:endParaRPr sz="1100">
                        <a:solidFill>
                          <a:srgbClr val="1D1C1D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Video(s)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External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2286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Website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Internal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2286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Sandbox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Internal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2286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D1C1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Launch</a:t>
                      </a:r>
                      <a:endParaRPr sz="1100">
                        <a:solidFill>
                          <a:srgbClr val="1D1C1D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D1C1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Launch</a:t>
                      </a:r>
                      <a:endParaRPr sz="1100">
                        <a:solidFill>
                          <a:srgbClr val="1D1C1D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D1C1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Launch</a:t>
                      </a:r>
                      <a:endParaRPr sz="1100">
                        <a:solidFill>
                          <a:srgbClr val="1D1C1D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External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2286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D1C1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Launch</a:t>
                      </a:r>
                      <a:endParaRPr sz="1100">
                        <a:solidFill>
                          <a:srgbClr val="1D1C1D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D1C1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Launch</a:t>
                      </a:r>
                      <a:endParaRPr sz="1100">
                        <a:solidFill>
                          <a:srgbClr val="1D1C1D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D1C1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Events</a:t>
                      </a:r>
                      <a:endParaRPr sz="1100">
                        <a:solidFill>
                          <a:srgbClr val="1D1C1D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External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Total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22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22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28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71</a:t>
                      </a:r>
                      <a:endParaRPr b="1"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With Buffer</a:t>
                      </a:r>
                      <a:endParaRPr b="1"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20% Buffer</a:t>
                      </a:r>
                      <a:endParaRPr b="1"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26.0</a:t>
                      </a:r>
                      <a:endParaRPr b="1"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26.0</a:t>
                      </a:r>
                      <a:endParaRPr b="1"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33.2</a:t>
                      </a:r>
                      <a:endParaRPr b="1"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85.1</a:t>
                      </a:r>
                      <a:endParaRPr b="1"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5" name="Google Shape;155;p21"/>
          <p:cNvGraphicFramePr/>
          <p:nvPr/>
        </p:nvGraphicFramePr>
        <p:xfrm>
          <a:off x="1270925" y="1736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{002C3086-1685-49E0-9C5B-863B587A7F38}</a:tableStyleId>
              </a:tblPr>
              <a:tblGrid>
                <a:gridCol w="2147725"/>
                <a:gridCol w="1176500"/>
                <a:gridCol w="1022150"/>
                <a:gridCol w="1173425"/>
                <a:gridCol w="1385850"/>
              </a:tblGrid>
              <a:tr h="39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Cost Attribution</a:t>
                      </a:r>
                      <a:endParaRPr b="1" sz="12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M1 (in L INR)</a:t>
                      </a:r>
                      <a:endParaRPr b="1" sz="12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M2 (in L INR)</a:t>
                      </a:r>
                      <a:endParaRPr b="1" sz="12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M3 (in L INR)</a:t>
                      </a:r>
                      <a:endParaRPr b="1" sz="12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Total Cost (in L INR)</a:t>
                      </a:r>
                      <a:endParaRPr b="1" sz="12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</a:tr>
              <a:tr h="39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External (including 20% buffer)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17.2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17.2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23.2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57.6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Internal (including 20% buffer)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8.8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8.8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10.0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27.5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6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Total with Buffer</a:t>
                      </a:r>
                      <a:endParaRPr b="1"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26.0</a:t>
                      </a:r>
                      <a:endParaRPr b="1"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26.0</a:t>
                      </a:r>
                      <a:endParaRPr b="1"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33.2</a:t>
                      </a:r>
                      <a:endParaRPr b="1"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85.1</a:t>
                      </a:r>
                      <a:endParaRPr b="1"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156" name="Google Shape;156;p21"/>
          <p:cNvSpPr/>
          <p:nvPr/>
        </p:nvSpPr>
        <p:spPr>
          <a:xfrm rot="-2430698">
            <a:off x="-1230322" y="304053"/>
            <a:ext cx="3410086" cy="465349"/>
          </a:xfrm>
          <a:prstGeom prst="rect">
            <a:avLst/>
          </a:prstGeom>
          <a:solidFill>
            <a:srgbClr val="273A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7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Phase 1</a:t>
            </a:r>
            <a:endParaRPr b="1" sz="1273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7" name="Google Shape;157;p21"/>
          <p:cNvSpPr/>
          <p:nvPr/>
        </p:nvSpPr>
        <p:spPr>
          <a:xfrm rot="-2441425">
            <a:off x="-965871" y="769322"/>
            <a:ext cx="3410118" cy="31316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Setup, May-July, 2023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8" name="Google Shape;158;p21"/>
          <p:cNvSpPr txBox="1"/>
          <p:nvPr/>
        </p:nvSpPr>
        <p:spPr>
          <a:xfrm>
            <a:off x="1281800" y="1036875"/>
            <a:ext cx="61299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Distribution</a:t>
            </a:r>
            <a:r>
              <a:rPr b="1" lang="en" sz="1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 between external and internal costs</a:t>
            </a:r>
            <a:endParaRPr b="1" sz="18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9" name="Google Shape;159;p21"/>
          <p:cNvSpPr txBox="1"/>
          <p:nvPr/>
        </p:nvSpPr>
        <p:spPr>
          <a:xfrm>
            <a:off x="1298125" y="3584125"/>
            <a:ext cx="4702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Internal costs are resources already onboarded and already available infra we will be consuming</a:t>
            </a:r>
            <a:endParaRPr b="1"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/>
          <p:nvPr/>
        </p:nvSpPr>
        <p:spPr>
          <a:xfrm rot="-2430698">
            <a:off x="-1230322" y="304053"/>
            <a:ext cx="3410086" cy="465349"/>
          </a:xfrm>
          <a:prstGeom prst="rect">
            <a:avLst/>
          </a:prstGeom>
          <a:solidFill>
            <a:srgbClr val="273A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7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Phase 2</a:t>
            </a:r>
            <a:endParaRPr b="1" sz="1273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5" name="Google Shape;165;p22"/>
          <p:cNvSpPr/>
          <p:nvPr/>
        </p:nvSpPr>
        <p:spPr>
          <a:xfrm rot="-2441425">
            <a:off x="-965871" y="769322"/>
            <a:ext cx="3410118" cy="31316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Next Phase, July onwards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6" name="Google Shape;166;p22"/>
          <p:cNvSpPr/>
          <p:nvPr/>
        </p:nvSpPr>
        <p:spPr>
          <a:xfrm>
            <a:off x="4756775" y="429375"/>
            <a:ext cx="1429200" cy="497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Partner Training and Onboarding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7" name="Google Shape;167;p22"/>
          <p:cNvSpPr/>
          <p:nvPr/>
        </p:nvSpPr>
        <p:spPr>
          <a:xfrm>
            <a:off x="1659925" y="429375"/>
            <a:ext cx="1757100" cy="497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L&amp;P SaaS Maintenance</a:t>
            </a:r>
            <a:endParaRPr sz="900"/>
          </a:p>
        </p:txBody>
      </p:sp>
      <p:sp>
        <p:nvSpPr>
          <p:cNvPr id="168" name="Google Shape;168;p22"/>
          <p:cNvSpPr/>
          <p:nvPr/>
        </p:nvSpPr>
        <p:spPr>
          <a:xfrm>
            <a:off x="3468750" y="429375"/>
            <a:ext cx="1236300" cy="497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L&amp;P SaaS Enhancement 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9" name="Google Shape;169;p22"/>
          <p:cNvSpPr/>
          <p:nvPr/>
        </p:nvSpPr>
        <p:spPr>
          <a:xfrm>
            <a:off x="7839675" y="429375"/>
            <a:ext cx="1096500" cy="456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PLG Lifecylcle 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0" name="Google Shape;170;p22"/>
          <p:cNvSpPr/>
          <p:nvPr/>
        </p:nvSpPr>
        <p:spPr>
          <a:xfrm>
            <a:off x="6251575" y="429375"/>
            <a:ext cx="1522500" cy="497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6125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Production</a:t>
            </a: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 Setup and Management 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1" name="Google Shape;171;p22"/>
          <p:cNvSpPr/>
          <p:nvPr/>
        </p:nvSpPr>
        <p:spPr>
          <a:xfrm rot="10795258">
            <a:off x="6405677" y="927215"/>
            <a:ext cx="217500" cy="138600"/>
          </a:xfrm>
          <a:prstGeom prst="triangle">
            <a:avLst>
              <a:gd fmla="val 50000" name="adj"/>
            </a:avLst>
          </a:prstGeom>
          <a:solidFill>
            <a:srgbClr val="FF9900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2"/>
          <p:cNvSpPr txBox="1"/>
          <p:nvPr/>
        </p:nvSpPr>
        <p:spPr>
          <a:xfrm>
            <a:off x="1590125" y="1350275"/>
            <a:ext cx="72933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This will be the base cost for 5 customers.</a:t>
            </a:r>
            <a:endParaRPr sz="13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DM Sans"/>
              <a:buChar char="-"/>
            </a:pPr>
            <a:r>
              <a:rPr lang="en" sz="13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Setup of Production Instance</a:t>
            </a:r>
            <a:endParaRPr sz="13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DM Sans"/>
              <a:buChar char="-"/>
            </a:pPr>
            <a:r>
              <a:rPr lang="en" sz="13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Support (8 hours)</a:t>
            </a:r>
            <a:endParaRPr sz="13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DM Sans"/>
              <a:buChar char="-"/>
            </a:pPr>
            <a:r>
              <a:rPr lang="en" sz="13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We are exploring options for DST/Fractional support and will try and optimize this</a:t>
            </a:r>
            <a:endParaRPr sz="13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173" name="Google Shape;173;p22"/>
          <p:cNvGraphicFramePr/>
          <p:nvPr/>
        </p:nvGraphicFramePr>
        <p:xfrm>
          <a:off x="52725" y="2466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{002C3086-1685-49E0-9C5B-863B587A7F38}</a:tableStyleId>
              </a:tblPr>
              <a:tblGrid>
                <a:gridCol w="1017900"/>
                <a:gridCol w="1332525"/>
                <a:gridCol w="803600"/>
                <a:gridCol w="1898850"/>
                <a:gridCol w="1133100"/>
                <a:gridCol w="437200"/>
                <a:gridCol w="631650"/>
                <a:gridCol w="795425"/>
                <a:gridCol w="833200"/>
              </a:tblGrid>
              <a:tr h="752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Phase</a:t>
                      </a:r>
                      <a:endParaRPr b="1" sz="12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Theme</a:t>
                      </a:r>
                      <a:endParaRPr b="1" sz="12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Headers</a:t>
                      </a:r>
                      <a:endParaRPr b="1" sz="12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Sub Headers</a:t>
                      </a:r>
                      <a:endParaRPr b="1" sz="12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Internal/External</a:t>
                      </a:r>
                      <a:endParaRPr b="1" sz="12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M4 (in L INR)</a:t>
                      </a:r>
                      <a:endParaRPr b="1" sz="12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M5 (in L INR)</a:t>
                      </a:r>
                      <a:endParaRPr b="1" sz="12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M6 (in L INR)</a:t>
                      </a:r>
                      <a:endParaRPr b="1" sz="12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Total Cost (in L INR)</a:t>
                      </a:r>
                      <a:endParaRPr b="1" sz="12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</a:tr>
              <a:tr h="228600">
                <a:tc rowSpan="5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D1C1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Phase 2</a:t>
                      </a:r>
                      <a:endParaRPr sz="1100">
                        <a:solidFill>
                          <a:srgbClr val="1D1C1D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5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D1C1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Production Setup and Management</a:t>
                      </a:r>
                      <a:endParaRPr sz="1100">
                        <a:solidFill>
                          <a:srgbClr val="1D1C1D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D1C1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Support</a:t>
                      </a:r>
                      <a:endParaRPr sz="1100">
                        <a:solidFill>
                          <a:srgbClr val="1D1C1D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L1/L2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External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3.5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3.5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3.5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10.5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22860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D1C1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Support</a:t>
                      </a:r>
                      <a:endParaRPr sz="1100">
                        <a:solidFill>
                          <a:srgbClr val="1D1C1D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L3/L4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External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8.2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8.2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8.2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24.6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36195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Infra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Production Environment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Internal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1.3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1.3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1.3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3.9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22860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Tools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Managed Services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Internal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36195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D1C1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Certifications, if any.</a:t>
                      </a:r>
                      <a:endParaRPr sz="1100">
                        <a:solidFill>
                          <a:srgbClr val="1D1C1D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Security Testing 3rd Party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External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1.2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1.2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Total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14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13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13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40</a:t>
                      </a:r>
                      <a:endParaRPr b="1"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/>
          <p:nvPr/>
        </p:nvSpPr>
        <p:spPr>
          <a:xfrm rot="-2430698">
            <a:off x="-1230322" y="312203"/>
            <a:ext cx="3410086" cy="465349"/>
          </a:xfrm>
          <a:prstGeom prst="rect">
            <a:avLst/>
          </a:prstGeom>
          <a:solidFill>
            <a:srgbClr val="273A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7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Phase 2</a:t>
            </a:r>
            <a:endParaRPr b="1" sz="1273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9" name="Google Shape;179;p23"/>
          <p:cNvSpPr/>
          <p:nvPr/>
        </p:nvSpPr>
        <p:spPr>
          <a:xfrm rot="-2441425">
            <a:off x="-965871" y="769322"/>
            <a:ext cx="3410118" cy="31316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Next Phase, July onwards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0" name="Google Shape;180;p23"/>
          <p:cNvSpPr/>
          <p:nvPr/>
        </p:nvSpPr>
        <p:spPr>
          <a:xfrm>
            <a:off x="4756775" y="429375"/>
            <a:ext cx="1429200" cy="497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Partner Training and Onboarding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1" name="Google Shape;181;p23"/>
          <p:cNvSpPr/>
          <p:nvPr/>
        </p:nvSpPr>
        <p:spPr>
          <a:xfrm>
            <a:off x="1659925" y="429375"/>
            <a:ext cx="1757100" cy="497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6125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L&amp;P SaaS Maintenance</a:t>
            </a:r>
            <a:endParaRPr sz="900"/>
          </a:p>
        </p:txBody>
      </p:sp>
      <p:sp>
        <p:nvSpPr>
          <p:cNvPr id="182" name="Google Shape;182;p23"/>
          <p:cNvSpPr/>
          <p:nvPr/>
        </p:nvSpPr>
        <p:spPr>
          <a:xfrm>
            <a:off x="3468750" y="429375"/>
            <a:ext cx="1236300" cy="497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L&amp;P SaaS Enhancement 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3" name="Google Shape;183;p23"/>
          <p:cNvSpPr/>
          <p:nvPr/>
        </p:nvSpPr>
        <p:spPr>
          <a:xfrm>
            <a:off x="7839675" y="429375"/>
            <a:ext cx="1096500" cy="456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PLG Lifecylcle 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4" name="Google Shape;184;p23"/>
          <p:cNvSpPr/>
          <p:nvPr/>
        </p:nvSpPr>
        <p:spPr>
          <a:xfrm>
            <a:off x="6251575" y="429375"/>
            <a:ext cx="1522500" cy="497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Production Setup and Management 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5" name="Google Shape;185;p23"/>
          <p:cNvSpPr/>
          <p:nvPr/>
        </p:nvSpPr>
        <p:spPr>
          <a:xfrm rot="10795258">
            <a:off x="1826977" y="927215"/>
            <a:ext cx="217500" cy="138600"/>
          </a:xfrm>
          <a:prstGeom prst="triangle">
            <a:avLst>
              <a:gd fmla="val 50000" name="adj"/>
            </a:avLst>
          </a:prstGeom>
          <a:solidFill>
            <a:srgbClr val="FF9900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3"/>
          <p:cNvSpPr txBox="1"/>
          <p:nvPr/>
        </p:nvSpPr>
        <p:spPr>
          <a:xfrm>
            <a:off x="1590125" y="1350275"/>
            <a:ext cx="72933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Base Cost to be incurred to maintain the product i</a:t>
            </a:r>
            <a:r>
              <a:rPr lang="en" sz="13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ncluding</a:t>
            </a:r>
            <a:endParaRPr sz="13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DM Sans"/>
              <a:buChar char="○"/>
            </a:pPr>
            <a:r>
              <a:rPr lang="en" sz="13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POD (Architect, PM, APM)</a:t>
            </a:r>
            <a:endParaRPr sz="13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DM Sans"/>
              <a:buChar char="○"/>
            </a:pPr>
            <a:r>
              <a:rPr lang="en" sz="13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Environments for Development, QA, Sandbox</a:t>
            </a:r>
            <a:endParaRPr sz="13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DM Sans"/>
              <a:buChar char="○"/>
            </a:pPr>
            <a:r>
              <a:rPr lang="en" sz="13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Subscription for Telemetry Tool</a:t>
            </a:r>
            <a:endParaRPr sz="13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187" name="Google Shape;187;p23"/>
          <p:cNvGraphicFramePr/>
          <p:nvPr/>
        </p:nvGraphicFramePr>
        <p:xfrm>
          <a:off x="205700" y="250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{002C3086-1685-49E0-9C5B-863B587A7F38}</a:tableStyleId>
              </a:tblPr>
              <a:tblGrid>
                <a:gridCol w="899400"/>
                <a:gridCol w="1190100"/>
                <a:gridCol w="1471725"/>
                <a:gridCol w="1135600"/>
                <a:gridCol w="1044750"/>
                <a:gridCol w="608675"/>
                <a:gridCol w="599600"/>
                <a:gridCol w="645025"/>
                <a:gridCol w="1135600"/>
              </a:tblGrid>
              <a:tr h="40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Phase</a:t>
                      </a:r>
                      <a:endParaRPr b="1" sz="12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Theme</a:t>
                      </a:r>
                      <a:endParaRPr b="1" sz="12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Headers</a:t>
                      </a:r>
                      <a:endParaRPr b="1" sz="12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Sub Headers</a:t>
                      </a:r>
                      <a:endParaRPr b="1" sz="12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Internal/External</a:t>
                      </a:r>
                      <a:endParaRPr b="1" sz="12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M4 (in L INR)</a:t>
                      </a:r>
                      <a:endParaRPr b="1" sz="12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M5 (in L INR)</a:t>
                      </a:r>
                      <a:endParaRPr b="1" sz="12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M6 (in L INR)</a:t>
                      </a:r>
                      <a:endParaRPr b="1" sz="12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Total Cost (in L INR)</a:t>
                      </a:r>
                      <a:endParaRPr b="1" sz="12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</a:tr>
              <a:tr h="228600">
                <a:tc rowSpan="5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D1C1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Phase 2</a:t>
                      </a:r>
                      <a:endParaRPr sz="1100">
                        <a:solidFill>
                          <a:srgbClr val="1D1C1D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5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D1C1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L&amp;P SaaS Maintenance</a:t>
                      </a:r>
                      <a:endParaRPr sz="1100">
                        <a:solidFill>
                          <a:srgbClr val="1D1C1D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POD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Internal Resources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Internal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18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36195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Infra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Development Environment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Internal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0.65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0.65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0.65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1.95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22860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Infra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QA Environment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Internal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0.65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0.65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0.65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1.95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22860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Infra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UAT/Sandbox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Internal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22860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Tools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Telemetry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External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0.02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0.02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0.02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0.06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Total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25</a:t>
                      </a:r>
                      <a:endParaRPr b="1"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4"/>
          <p:cNvSpPr/>
          <p:nvPr/>
        </p:nvSpPr>
        <p:spPr>
          <a:xfrm rot="-2430698">
            <a:off x="-1230322" y="304053"/>
            <a:ext cx="3410086" cy="465349"/>
          </a:xfrm>
          <a:prstGeom prst="rect">
            <a:avLst/>
          </a:prstGeom>
          <a:solidFill>
            <a:srgbClr val="273A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7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Phase 2</a:t>
            </a:r>
            <a:endParaRPr b="1" sz="1273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3" name="Google Shape;193;p24"/>
          <p:cNvSpPr/>
          <p:nvPr/>
        </p:nvSpPr>
        <p:spPr>
          <a:xfrm rot="-2441425">
            <a:off x="-965871" y="769322"/>
            <a:ext cx="3410118" cy="31316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Next Phase, July onwards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4" name="Google Shape;194;p24"/>
          <p:cNvSpPr/>
          <p:nvPr/>
        </p:nvSpPr>
        <p:spPr>
          <a:xfrm>
            <a:off x="4756775" y="429375"/>
            <a:ext cx="1429200" cy="497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Partner Training and Onboarding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5" name="Google Shape;195;p24"/>
          <p:cNvSpPr/>
          <p:nvPr/>
        </p:nvSpPr>
        <p:spPr>
          <a:xfrm>
            <a:off x="1659925" y="429375"/>
            <a:ext cx="1757100" cy="497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L&amp;P SaaS </a:t>
            </a: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Maintenance</a:t>
            </a:r>
            <a:endParaRPr sz="900"/>
          </a:p>
        </p:txBody>
      </p:sp>
      <p:sp>
        <p:nvSpPr>
          <p:cNvPr id="196" name="Google Shape;196;p24"/>
          <p:cNvSpPr/>
          <p:nvPr/>
        </p:nvSpPr>
        <p:spPr>
          <a:xfrm>
            <a:off x="3468750" y="429375"/>
            <a:ext cx="1236300" cy="497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6125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L&amp;P SaaS </a:t>
            </a: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Enhancement</a:t>
            </a: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 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7" name="Google Shape;197;p24"/>
          <p:cNvSpPr/>
          <p:nvPr/>
        </p:nvSpPr>
        <p:spPr>
          <a:xfrm>
            <a:off x="7839675" y="429375"/>
            <a:ext cx="1096500" cy="456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PLG Lifecylcle 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8" name="Google Shape;198;p24"/>
          <p:cNvSpPr/>
          <p:nvPr/>
        </p:nvSpPr>
        <p:spPr>
          <a:xfrm>
            <a:off x="6251575" y="429375"/>
            <a:ext cx="1522500" cy="497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Production Setup and Management 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9" name="Google Shape;199;p24"/>
          <p:cNvSpPr/>
          <p:nvPr/>
        </p:nvSpPr>
        <p:spPr>
          <a:xfrm rot="10795258">
            <a:off x="3692477" y="927215"/>
            <a:ext cx="217500" cy="138600"/>
          </a:xfrm>
          <a:prstGeom prst="triangle">
            <a:avLst>
              <a:gd fmla="val 50000" name="adj"/>
            </a:avLst>
          </a:prstGeom>
          <a:solidFill>
            <a:srgbClr val="FF9900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4"/>
          <p:cNvSpPr txBox="1"/>
          <p:nvPr/>
        </p:nvSpPr>
        <p:spPr>
          <a:xfrm>
            <a:off x="1590125" y="1350275"/>
            <a:ext cx="72933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This is to enhance the Application as we see adoption and includes cost for:</a:t>
            </a:r>
            <a:endParaRPr sz="13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DM Sans"/>
              <a:buChar char="-"/>
            </a:pPr>
            <a:r>
              <a:rPr lang="en" sz="13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Build of the application</a:t>
            </a:r>
            <a:endParaRPr sz="13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DM Sans"/>
              <a:buChar char="-"/>
            </a:pPr>
            <a:r>
              <a:rPr lang="en" sz="13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Travel for User Research, observations etc</a:t>
            </a:r>
            <a:endParaRPr sz="13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201" name="Google Shape;201;p24"/>
          <p:cNvGraphicFramePr/>
          <p:nvPr/>
        </p:nvGraphicFramePr>
        <p:xfrm>
          <a:off x="187950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{002C3086-1685-49E0-9C5B-863B587A7F38}</a:tableStyleId>
              </a:tblPr>
              <a:tblGrid>
                <a:gridCol w="952700"/>
                <a:gridCol w="1002300"/>
                <a:gridCol w="1384425"/>
                <a:gridCol w="1399725"/>
                <a:gridCol w="1069950"/>
                <a:gridCol w="626125"/>
                <a:gridCol w="581700"/>
                <a:gridCol w="578100"/>
                <a:gridCol w="1024200"/>
              </a:tblGrid>
              <a:tr h="752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Phase</a:t>
                      </a:r>
                      <a:endParaRPr b="1" sz="12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Theme</a:t>
                      </a:r>
                      <a:endParaRPr b="1" sz="12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Headers</a:t>
                      </a:r>
                      <a:endParaRPr b="1" sz="12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Sub Headers</a:t>
                      </a:r>
                      <a:endParaRPr b="1" sz="12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Internal/External</a:t>
                      </a:r>
                      <a:endParaRPr b="1" sz="12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M4 (in L INR)</a:t>
                      </a:r>
                      <a:endParaRPr b="1" sz="12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M5 (in L INR)</a:t>
                      </a:r>
                      <a:endParaRPr b="1" sz="12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M6 (in L INR)</a:t>
                      </a:r>
                      <a:endParaRPr b="1" sz="12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Total Cost (in L INR)</a:t>
                      </a:r>
                      <a:endParaRPr b="1" sz="12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</a:tr>
              <a:tr h="228600">
                <a:tc row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D1C1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Phase 2</a:t>
                      </a:r>
                      <a:endParaRPr sz="1100">
                        <a:solidFill>
                          <a:srgbClr val="1D1C1D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D1C1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L&amp;P SaaS Enhancement</a:t>
                      </a:r>
                      <a:endParaRPr sz="1100">
                        <a:solidFill>
                          <a:srgbClr val="1D1C1D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Build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Engineering Partner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External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14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14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14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42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36195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Travel if required for Customer Feedback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External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Total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24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14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14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52</a:t>
                      </a:r>
                      <a:endParaRPr b="1"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/>
          <p:nvPr/>
        </p:nvSpPr>
        <p:spPr>
          <a:xfrm rot="-2430698">
            <a:off x="-1230322" y="304053"/>
            <a:ext cx="3410086" cy="465349"/>
          </a:xfrm>
          <a:prstGeom prst="rect">
            <a:avLst/>
          </a:prstGeom>
          <a:solidFill>
            <a:srgbClr val="273A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7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Phase 2</a:t>
            </a:r>
            <a:endParaRPr b="1" sz="1273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7" name="Google Shape;207;p25"/>
          <p:cNvSpPr/>
          <p:nvPr/>
        </p:nvSpPr>
        <p:spPr>
          <a:xfrm rot="-2441425">
            <a:off x="-965871" y="769322"/>
            <a:ext cx="3410118" cy="31316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Next Phase, July onwards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8" name="Google Shape;208;p25"/>
          <p:cNvSpPr/>
          <p:nvPr/>
        </p:nvSpPr>
        <p:spPr>
          <a:xfrm>
            <a:off x="4756775" y="429375"/>
            <a:ext cx="1429200" cy="497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Partner Training and Onboarding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9" name="Google Shape;209;p25"/>
          <p:cNvSpPr/>
          <p:nvPr/>
        </p:nvSpPr>
        <p:spPr>
          <a:xfrm>
            <a:off x="1659925" y="429375"/>
            <a:ext cx="1757100" cy="497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L&amp;P SaaS Maintenance</a:t>
            </a:r>
            <a:endParaRPr sz="900"/>
          </a:p>
        </p:txBody>
      </p:sp>
      <p:sp>
        <p:nvSpPr>
          <p:cNvPr id="210" name="Google Shape;210;p25"/>
          <p:cNvSpPr/>
          <p:nvPr/>
        </p:nvSpPr>
        <p:spPr>
          <a:xfrm>
            <a:off x="3468750" y="429375"/>
            <a:ext cx="1236300" cy="497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L&amp;P SaaS Enhancement 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1" name="Google Shape;211;p25"/>
          <p:cNvSpPr/>
          <p:nvPr/>
        </p:nvSpPr>
        <p:spPr>
          <a:xfrm>
            <a:off x="7839675" y="429375"/>
            <a:ext cx="1096500" cy="456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6125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PLG</a:t>
            </a: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 Lifecylcle 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2" name="Google Shape;212;p25"/>
          <p:cNvSpPr/>
          <p:nvPr/>
        </p:nvSpPr>
        <p:spPr>
          <a:xfrm>
            <a:off x="6251575" y="429375"/>
            <a:ext cx="1522500" cy="497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Production Setup and Management 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3" name="Google Shape;213;p25"/>
          <p:cNvSpPr/>
          <p:nvPr/>
        </p:nvSpPr>
        <p:spPr>
          <a:xfrm rot="10795258">
            <a:off x="7974277" y="885815"/>
            <a:ext cx="217500" cy="138600"/>
          </a:xfrm>
          <a:prstGeom prst="triangle">
            <a:avLst>
              <a:gd fmla="val 50000" name="adj"/>
            </a:avLst>
          </a:prstGeom>
          <a:solidFill>
            <a:srgbClr val="FF9900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5"/>
          <p:cNvSpPr txBox="1"/>
          <p:nvPr/>
        </p:nvSpPr>
        <p:spPr>
          <a:xfrm>
            <a:off x="1590125" y="1350275"/>
            <a:ext cx="72933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DM Sans"/>
              <a:buChar char="-"/>
            </a:pPr>
            <a:r>
              <a:rPr lang="en" sz="13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Includes continuous demand gen, strengthening PLG lifecylce etc</a:t>
            </a:r>
            <a:endParaRPr sz="13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6"/>
          <p:cNvSpPr/>
          <p:nvPr/>
        </p:nvSpPr>
        <p:spPr>
          <a:xfrm rot="-2430698">
            <a:off x="-1230322" y="304053"/>
            <a:ext cx="3410086" cy="465349"/>
          </a:xfrm>
          <a:prstGeom prst="rect">
            <a:avLst/>
          </a:prstGeom>
          <a:solidFill>
            <a:srgbClr val="273A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7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Phase 2</a:t>
            </a:r>
            <a:endParaRPr b="1" sz="1273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0" name="Google Shape;220;p26"/>
          <p:cNvSpPr/>
          <p:nvPr/>
        </p:nvSpPr>
        <p:spPr>
          <a:xfrm rot="-2441425">
            <a:off x="-965871" y="769322"/>
            <a:ext cx="3410118" cy="31316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Next Phase, July onwards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4756775" y="429375"/>
            <a:ext cx="1429200" cy="497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61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Partner Training and Onboarding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1659925" y="429375"/>
            <a:ext cx="1757100" cy="497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L&amp;P SaaS Maintenance</a:t>
            </a:r>
            <a:endParaRPr sz="900"/>
          </a:p>
        </p:txBody>
      </p:sp>
      <p:sp>
        <p:nvSpPr>
          <p:cNvPr id="223" name="Google Shape;223;p26"/>
          <p:cNvSpPr/>
          <p:nvPr/>
        </p:nvSpPr>
        <p:spPr>
          <a:xfrm>
            <a:off x="3468750" y="429375"/>
            <a:ext cx="1236300" cy="497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L&amp;P SaaS Enhancement 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4" name="Google Shape;224;p26"/>
          <p:cNvSpPr/>
          <p:nvPr/>
        </p:nvSpPr>
        <p:spPr>
          <a:xfrm>
            <a:off x="7839675" y="429375"/>
            <a:ext cx="1096500" cy="456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PLG Lifecylcle 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5" name="Google Shape;225;p26"/>
          <p:cNvSpPr/>
          <p:nvPr/>
        </p:nvSpPr>
        <p:spPr>
          <a:xfrm>
            <a:off x="6251575" y="429375"/>
            <a:ext cx="1522500" cy="497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Production Setup and Management 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6" name="Google Shape;226;p26"/>
          <p:cNvSpPr/>
          <p:nvPr/>
        </p:nvSpPr>
        <p:spPr>
          <a:xfrm rot="10795258">
            <a:off x="4971702" y="927215"/>
            <a:ext cx="217500" cy="138600"/>
          </a:xfrm>
          <a:prstGeom prst="triangle">
            <a:avLst>
              <a:gd fmla="val 50000" name="adj"/>
            </a:avLst>
          </a:prstGeom>
          <a:solidFill>
            <a:srgbClr val="FF9900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6"/>
          <p:cNvSpPr txBox="1"/>
          <p:nvPr/>
        </p:nvSpPr>
        <p:spPr>
          <a:xfrm>
            <a:off x="1590125" y="1350275"/>
            <a:ext cx="72933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DM Sans"/>
              <a:buChar char="-"/>
            </a:pPr>
            <a:r>
              <a:rPr lang="en" sz="13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TBD</a:t>
            </a:r>
            <a:endParaRPr sz="13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