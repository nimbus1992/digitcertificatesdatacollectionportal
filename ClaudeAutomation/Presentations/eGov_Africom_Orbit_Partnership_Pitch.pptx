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Montserrat SemiBold"/>
      <p:regular r:id="rId20"/>
      <p:bold r:id="rId21"/>
      <p:italic r:id="rId22"/>
      <p:boldItalic r:id="rId23"/>
    </p:embeddedFont>
    <p:embeddedFont>
      <p:font typeface="Quattrocento Sans"/>
      <p:regular r:id="rId24"/>
      <p:bold r:id="rId25"/>
      <p:italic r:id="rId26"/>
      <p:boldItalic r:id="rId27"/>
    </p:embeddedFont>
    <p:embeddedFont>
      <p:font typeface="DM Sans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6" roundtripDataSignature="AMtx7miaL8wZp4oepTnNiQ4QXU9Z8Yl2m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Tahera Bharmal"/>
  <p:cmAuthor clrIdx="1" id="1" initials="" lastIdx="1" name="Suhas Rajaram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regular.fntdata"/><Relationship Id="rId22" Type="http://schemas.openxmlformats.org/officeDocument/2006/relationships/font" Target="fonts/MontserratSemiBold-italic.fntdata"/><Relationship Id="rId21" Type="http://schemas.openxmlformats.org/officeDocument/2006/relationships/font" Target="fonts/MontserratSemiBold-bold.fntdata"/><Relationship Id="rId24" Type="http://schemas.openxmlformats.org/officeDocument/2006/relationships/font" Target="fonts/QuattrocentoSans-regular.fntdata"/><Relationship Id="rId23" Type="http://schemas.openxmlformats.org/officeDocument/2006/relationships/font" Target="fonts/MontserratSemiBold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font" Target="fonts/QuattrocentoSans-italic.fntdata"/><Relationship Id="rId25" Type="http://schemas.openxmlformats.org/officeDocument/2006/relationships/font" Target="fonts/QuattrocentoSans-bold.fntdata"/><Relationship Id="rId28" Type="http://schemas.openxmlformats.org/officeDocument/2006/relationships/font" Target="fonts/DMSans-regular.fntdata"/><Relationship Id="rId27" Type="http://schemas.openxmlformats.org/officeDocument/2006/relationships/font" Target="fonts/QuattrocentoSans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DMSans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italic.fntdata"/><Relationship Id="rId11" Type="http://schemas.openxmlformats.org/officeDocument/2006/relationships/slide" Target="slides/slide4.xml"/><Relationship Id="rId33" Type="http://schemas.openxmlformats.org/officeDocument/2006/relationships/font" Target="fonts/OpenSans-bold.fntdata"/><Relationship Id="rId10" Type="http://schemas.openxmlformats.org/officeDocument/2006/relationships/slide" Target="slides/slide3.xml"/><Relationship Id="rId32" Type="http://schemas.openxmlformats.org/officeDocument/2006/relationships/font" Target="fonts/OpenSans-regular.fntdata"/><Relationship Id="rId13" Type="http://schemas.openxmlformats.org/officeDocument/2006/relationships/slide" Target="slides/slide6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5.xml"/><Relationship Id="rId34" Type="http://schemas.openxmlformats.org/officeDocument/2006/relationships/font" Target="fonts/OpenSans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customschemas.google.com/relationships/presentationmetadata" Target="meta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07T07:25:52.881">
    <p:pos x="6000" y="0"/>
    <p:text>@suhas.rajaram@equidhi.org can you think of a visual graph forr this. Struggling
_Assigned to suhas.rajaram@equidhi.org_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3E0ISq8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4-06T07:52:52.143">
    <p:pos x="481" y="305"/>
    <p:text>@suhas.rajaram@equidhi.org please decide asks with Santosh
_Reassigned to suhas.rajaram@equidhi.org_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3CzpdYE"/>
      </p:ext>
    </p:extLst>
  </p:cm>
  <p:cm authorId="1" idx="1" dt="2026-04-06T07:52:52.143">
    <p:pos x="481" y="305"/>
    <p:text>Sounds good. Thanks for the slides - the deck has come out really well</p:text>
    <p:extLst>
      <p:ext uri="{C676402C-5697-4E1C-873F-D02D1690AC5C}">
        <p15:threadingInfo timeZoneBias="0">
          <p15:parentCm authorId="0" idx="2"/>
        </p15:threadingInfo>
      </p:ext>
      <p:ext uri="http://customooxmlschemas.google.com/">
        <go:slidesCustomData xmlns:go="http://customooxmlschemas.google.com/" commentPostId="AAAB3DLesL4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d44c31ae7_0_59:notes"/>
          <p:cNvSpPr/>
          <p:nvPr>
            <p:ph idx="2" type="sldImg"/>
          </p:nvPr>
        </p:nvSpPr>
        <p:spPr>
          <a:xfrm>
            <a:off x="196170" y="1143000"/>
            <a:ext cx="64668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dd44c31ae7_0_59:notes"/>
          <p:cNvSpPr txBox="1"/>
          <p:nvPr>
            <p:ph idx="1" type="body"/>
          </p:nvPr>
        </p:nvSpPr>
        <p:spPr>
          <a:xfrm>
            <a:off x="686566" y="4401092"/>
            <a:ext cx="54864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150" lIns="88300" spcFirstLastPara="1" rIns="88300" wrap="square" tIns="4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dd44c31ae7_0_59:notes"/>
          <p:cNvSpPr txBox="1"/>
          <p:nvPr>
            <p:ph idx="12" type="sldNum"/>
          </p:nvPr>
        </p:nvSpPr>
        <p:spPr>
          <a:xfrm>
            <a:off x="3884924" y="8685878"/>
            <a:ext cx="29715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4150" lIns="88300" spcFirstLastPara="1" rIns="88300" wrap="square" tIns="441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d44c31ae7_0_118:notes"/>
          <p:cNvSpPr/>
          <p:nvPr>
            <p:ph idx="2" type="sldImg"/>
          </p:nvPr>
        </p:nvSpPr>
        <p:spPr>
          <a:xfrm>
            <a:off x="196170" y="1143000"/>
            <a:ext cx="64668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dd44c31ae7_0_118:notes"/>
          <p:cNvSpPr txBox="1"/>
          <p:nvPr>
            <p:ph idx="1" type="body"/>
          </p:nvPr>
        </p:nvSpPr>
        <p:spPr>
          <a:xfrm>
            <a:off x="686566" y="4401092"/>
            <a:ext cx="54864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150" lIns="88300" spcFirstLastPara="1" rIns="88300" wrap="square" tIns="4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dd44c31ae7_0_118:notes"/>
          <p:cNvSpPr txBox="1"/>
          <p:nvPr>
            <p:ph idx="12" type="sldNum"/>
          </p:nvPr>
        </p:nvSpPr>
        <p:spPr>
          <a:xfrm>
            <a:off x="3884924" y="8685878"/>
            <a:ext cx="29715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4150" lIns="88300" spcFirstLastPara="1" rIns="88300" wrap="square" tIns="441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d44c31ae7_0_627:notes"/>
          <p:cNvSpPr/>
          <p:nvPr>
            <p:ph idx="2" type="sldImg"/>
          </p:nvPr>
        </p:nvSpPr>
        <p:spPr>
          <a:xfrm>
            <a:off x="196170" y="1143000"/>
            <a:ext cx="64668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dd44c31ae7_0_627:notes"/>
          <p:cNvSpPr txBox="1"/>
          <p:nvPr>
            <p:ph idx="1" type="body"/>
          </p:nvPr>
        </p:nvSpPr>
        <p:spPr>
          <a:xfrm>
            <a:off x="686566" y="4401092"/>
            <a:ext cx="54864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150" lIns="88300" spcFirstLastPara="1" rIns="88300" wrap="square" tIns="4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dd44c31ae7_0_627:notes"/>
          <p:cNvSpPr txBox="1"/>
          <p:nvPr>
            <p:ph idx="12" type="sldNum"/>
          </p:nvPr>
        </p:nvSpPr>
        <p:spPr>
          <a:xfrm>
            <a:off x="3884924" y="8685878"/>
            <a:ext cx="29715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4150" lIns="88300" spcFirstLastPara="1" rIns="88300" wrap="square" tIns="441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d44c31ae7_0_779:notes"/>
          <p:cNvSpPr/>
          <p:nvPr>
            <p:ph idx="2" type="sldImg"/>
          </p:nvPr>
        </p:nvSpPr>
        <p:spPr>
          <a:xfrm>
            <a:off x="196170" y="1143000"/>
            <a:ext cx="64668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dd44c31ae7_0_779:notes"/>
          <p:cNvSpPr txBox="1"/>
          <p:nvPr>
            <p:ph idx="1" type="body"/>
          </p:nvPr>
        </p:nvSpPr>
        <p:spPr>
          <a:xfrm>
            <a:off x="686566" y="4401092"/>
            <a:ext cx="54864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150" lIns="88300" spcFirstLastPara="1" rIns="88300" wrap="square" tIns="4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dd44c31ae7_0_779:notes"/>
          <p:cNvSpPr txBox="1"/>
          <p:nvPr>
            <p:ph idx="12" type="sldNum"/>
          </p:nvPr>
        </p:nvSpPr>
        <p:spPr>
          <a:xfrm>
            <a:off x="3884924" y="8685878"/>
            <a:ext cx="29715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4150" lIns="88300" spcFirstLastPara="1" rIns="88300" wrap="square" tIns="441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d44c31ae7_0_712:notes"/>
          <p:cNvSpPr/>
          <p:nvPr>
            <p:ph idx="2" type="sldImg"/>
          </p:nvPr>
        </p:nvSpPr>
        <p:spPr>
          <a:xfrm>
            <a:off x="196170" y="1143000"/>
            <a:ext cx="64668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dd44c31ae7_0_712:notes"/>
          <p:cNvSpPr txBox="1"/>
          <p:nvPr>
            <p:ph idx="1" type="body"/>
          </p:nvPr>
        </p:nvSpPr>
        <p:spPr>
          <a:xfrm>
            <a:off x="686566" y="4401092"/>
            <a:ext cx="54864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150" lIns="88300" spcFirstLastPara="1" rIns="88300" wrap="square" tIns="4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dd44c31ae7_0_712:notes"/>
          <p:cNvSpPr txBox="1"/>
          <p:nvPr>
            <p:ph idx="12" type="sldNum"/>
          </p:nvPr>
        </p:nvSpPr>
        <p:spPr>
          <a:xfrm>
            <a:off x="3884924" y="8685878"/>
            <a:ext cx="29715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4150" lIns="88300" spcFirstLastPara="1" rIns="88300" wrap="square" tIns="441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d44c31ae7_0_967:notes"/>
          <p:cNvSpPr/>
          <p:nvPr>
            <p:ph idx="2" type="sldImg"/>
          </p:nvPr>
        </p:nvSpPr>
        <p:spPr>
          <a:xfrm>
            <a:off x="196170" y="1143000"/>
            <a:ext cx="64668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dd44c31ae7_0_967:notes"/>
          <p:cNvSpPr txBox="1"/>
          <p:nvPr>
            <p:ph idx="1" type="body"/>
          </p:nvPr>
        </p:nvSpPr>
        <p:spPr>
          <a:xfrm>
            <a:off x="686566" y="4401092"/>
            <a:ext cx="54864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150" lIns="88300" spcFirstLastPara="1" rIns="88300" wrap="square" tIns="4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dd44c31ae7_0_967:notes"/>
          <p:cNvSpPr txBox="1"/>
          <p:nvPr>
            <p:ph idx="12" type="sldNum"/>
          </p:nvPr>
        </p:nvSpPr>
        <p:spPr>
          <a:xfrm>
            <a:off x="3884924" y="8685878"/>
            <a:ext cx="29715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4150" lIns="88300" spcFirstLastPara="1" rIns="88300" wrap="square" tIns="441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d44c31ae7_0_979:notes"/>
          <p:cNvSpPr/>
          <p:nvPr>
            <p:ph idx="2" type="sldImg"/>
          </p:nvPr>
        </p:nvSpPr>
        <p:spPr>
          <a:xfrm>
            <a:off x="196170" y="1143000"/>
            <a:ext cx="64668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dd44c31ae7_0_979:notes"/>
          <p:cNvSpPr txBox="1"/>
          <p:nvPr>
            <p:ph idx="1" type="body"/>
          </p:nvPr>
        </p:nvSpPr>
        <p:spPr>
          <a:xfrm>
            <a:off x="686566" y="4401092"/>
            <a:ext cx="54864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150" lIns="88300" spcFirstLastPara="1" rIns="88300" wrap="square" tIns="4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dd44c31ae7_0_979:notes"/>
          <p:cNvSpPr txBox="1"/>
          <p:nvPr>
            <p:ph idx="12" type="sldNum"/>
          </p:nvPr>
        </p:nvSpPr>
        <p:spPr>
          <a:xfrm>
            <a:off x="3884924" y="8685878"/>
            <a:ext cx="29715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4150" lIns="88300" spcFirstLastPara="1" rIns="88300" wrap="square" tIns="441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d44c31ae7_0_1177:notes"/>
          <p:cNvSpPr/>
          <p:nvPr>
            <p:ph idx="2" type="sldImg"/>
          </p:nvPr>
        </p:nvSpPr>
        <p:spPr>
          <a:xfrm>
            <a:off x="196170" y="1143000"/>
            <a:ext cx="64668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dd44c31ae7_0_1177:notes"/>
          <p:cNvSpPr txBox="1"/>
          <p:nvPr>
            <p:ph idx="1" type="body"/>
          </p:nvPr>
        </p:nvSpPr>
        <p:spPr>
          <a:xfrm>
            <a:off x="686566" y="4401092"/>
            <a:ext cx="54864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150" lIns="88300" spcFirstLastPara="1" rIns="88300" wrap="square" tIns="4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dd44c31ae7_0_1177:notes"/>
          <p:cNvSpPr txBox="1"/>
          <p:nvPr>
            <p:ph idx="12" type="sldNum"/>
          </p:nvPr>
        </p:nvSpPr>
        <p:spPr>
          <a:xfrm>
            <a:off x="3884924" y="8685878"/>
            <a:ext cx="29715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4150" lIns="88300" spcFirstLastPara="1" rIns="88300" wrap="square" tIns="441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dd44c31ae7_0_1092:notes"/>
          <p:cNvSpPr/>
          <p:nvPr>
            <p:ph idx="2" type="sldImg"/>
          </p:nvPr>
        </p:nvSpPr>
        <p:spPr>
          <a:xfrm>
            <a:off x="196170" y="1143000"/>
            <a:ext cx="64668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dd44c31ae7_0_1092:notes"/>
          <p:cNvSpPr txBox="1"/>
          <p:nvPr>
            <p:ph idx="1" type="body"/>
          </p:nvPr>
        </p:nvSpPr>
        <p:spPr>
          <a:xfrm>
            <a:off x="686566" y="4401092"/>
            <a:ext cx="54864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150" lIns="88300" spcFirstLastPara="1" rIns="88300" wrap="square" tIns="4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dd44c31ae7_0_1092:notes"/>
          <p:cNvSpPr txBox="1"/>
          <p:nvPr>
            <p:ph idx="12" type="sldNum"/>
          </p:nvPr>
        </p:nvSpPr>
        <p:spPr>
          <a:xfrm>
            <a:off x="3884924" y="8685878"/>
            <a:ext cx="29715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4150" lIns="88300" spcFirstLastPara="1" rIns="88300" wrap="square" tIns="441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dd44c31ae7_0_1191:notes"/>
          <p:cNvSpPr/>
          <p:nvPr>
            <p:ph idx="2" type="sldImg"/>
          </p:nvPr>
        </p:nvSpPr>
        <p:spPr>
          <a:xfrm>
            <a:off x="196170" y="1143000"/>
            <a:ext cx="64668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dd44c31ae7_0_1191:notes"/>
          <p:cNvSpPr txBox="1"/>
          <p:nvPr>
            <p:ph idx="1" type="body"/>
          </p:nvPr>
        </p:nvSpPr>
        <p:spPr>
          <a:xfrm>
            <a:off x="686566" y="4401092"/>
            <a:ext cx="54864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150" lIns="88300" spcFirstLastPara="1" rIns="88300" wrap="square" tIns="4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dd44c31ae7_0_1191:notes"/>
          <p:cNvSpPr txBox="1"/>
          <p:nvPr>
            <p:ph idx="12" type="sldNum"/>
          </p:nvPr>
        </p:nvSpPr>
        <p:spPr>
          <a:xfrm>
            <a:off x="3884924" y="8685878"/>
            <a:ext cx="29715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4150" lIns="88300" spcFirstLastPara="1" rIns="88300" wrap="square" tIns="441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Third LHS Dark">
  <p:cSld name="One Third LHS Dark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/>
          <p:nvPr/>
        </p:nvSpPr>
        <p:spPr>
          <a:xfrm>
            <a:off x="0" y="0"/>
            <a:ext cx="304495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6"/>
          <p:cNvSpPr txBox="1"/>
          <p:nvPr>
            <p:ph type="title"/>
          </p:nvPr>
        </p:nvSpPr>
        <p:spPr>
          <a:xfrm>
            <a:off x="411480" y="322325"/>
            <a:ext cx="2221516" cy="447827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" type="body"/>
          </p:nvPr>
        </p:nvSpPr>
        <p:spPr>
          <a:xfrm>
            <a:off x="3456432" y="411480"/>
            <a:ext cx="5275612" cy="432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350">
                <a:solidFill>
                  <a:schemeClr val="accen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 sz="1350">
                <a:solidFill>
                  <a:schemeClr val="accen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350">
                <a:solidFill>
                  <a:schemeClr val="accen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350"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350"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500"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500"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500"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500"/>
            </a:lvl9pPr>
          </a:lstStyle>
          <a:p/>
        </p:txBody>
      </p:sp>
      <p:sp>
        <p:nvSpPr>
          <p:cNvPr id="17" name="Google Shape;17;p16"/>
          <p:cNvSpPr txBox="1"/>
          <p:nvPr/>
        </p:nvSpPr>
        <p:spPr>
          <a:xfrm>
            <a:off x="411479" y="4908153"/>
            <a:ext cx="2400300" cy="1038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75" u="none" cap="none" strike="noStrike">
              <a:solidFill>
                <a:srgbClr val="A3A1A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6"/>
          <p:cNvCxnSpPr/>
          <p:nvPr/>
        </p:nvCxnSpPr>
        <p:spPr>
          <a:xfrm>
            <a:off x="3044952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212">
          <p15:clr>
            <a:srgbClr val="FBAE40"/>
          </p15:clr>
        </p15:guide>
        <p15:guide id="2" pos="29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4" name="Google Shape;24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5" name="Google Shape;2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5">
  <p:cSld name="OBJECT_9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7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27"/>
          <p:cNvSpPr txBox="1"/>
          <p:nvPr>
            <p:ph idx="1" type="body"/>
          </p:nvPr>
        </p:nvSpPr>
        <p:spPr>
          <a:xfrm>
            <a:off x="508000" y="1620442"/>
            <a:ext cx="64476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9" name="Google Shape;59;p27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27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27"/>
          <p:cNvSpPr txBox="1"/>
          <p:nvPr>
            <p:ph idx="12" type="sldNum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6">
  <p:cSld name="TITLE_6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4" name="Google Shape;64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5" name="Google Shape;6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mplate with footnotes 5">
  <p:cSld name="BLANK_5_1_19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9"/>
          <p:cNvSpPr txBox="1"/>
          <p:nvPr>
            <p:ph idx="1" type="subTitle"/>
          </p:nvPr>
        </p:nvSpPr>
        <p:spPr>
          <a:xfrm>
            <a:off x="187375" y="4806125"/>
            <a:ext cx="6548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29"/>
          <p:cNvSpPr txBox="1"/>
          <p:nvPr>
            <p:ph idx="12" type="sldNum"/>
          </p:nvPr>
        </p:nvSpPr>
        <p:spPr>
          <a:xfrm>
            <a:off x="8760002" y="4806125"/>
            <a:ext cx="38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" name="Google Shape;6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42355" y="4900541"/>
            <a:ext cx="548700" cy="20477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9"/>
          <p:cNvSpPr txBox="1"/>
          <p:nvPr>
            <p:ph type="title"/>
          </p:nvPr>
        </p:nvSpPr>
        <p:spPr>
          <a:xfrm>
            <a:off x="187375" y="74050"/>
            <a:ext cx="88599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600"/>
              <a:buFont typeface="Montserrat SemiBold"/>
              <a:buNone/>
              <a:defRPr b="0" sz="1600">
                <a:solidFill>
                  <a:srgbClr val="0097A7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600"/>
              <a:buFont typeface="Montserrat SemiBold"/>
              <a:buNone/>
              <a:defRPr sz="1600">
                <a:solidFill>
                  <a:srgbClr val="0097A7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600"/>
              <a:buFont typeface="Montserrat SemiBold"/>
              <a:buNone/>
              <a:defRPr sz="1600">
                <a:solidFill>
                  <a:srgbClr val="0097A7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600"/>
              <a:buFont typeface="Montserrat SemiBold"/>
              <a:buNone/>
              <a:defRPr sz="1600">
                <a:solidFill>
                  <a:srgbClr val="0097A7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600"/>
              <a:buFont typeface="Montserrat SemiBold"/>
              <a:buNone/>
              <a:defRPr sz="1600">
                <a:solidFill>
                  <a:srgbClr val="0097A7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600"/>
              <a:buFont typeface="Montserrat SemiBold"/>
              <a:buNone/>
              <a:defRPr sz="1600">
                <a:solidFill>
                  <a:srgbClr val="0097A7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600"/>
              <a:buFont typeface="Montserrat SemiBold"/>
              <a:buNone/>
              <a:defRPr sz="1600">
                <a:solidFill>
                  <a:srgbClr val="0097A7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600"/>
              <a:buFont typeface="Montserrat SemiBold"/>
              <a:buNone/>
              <a:defRPr sz="1600">
                <a:solidFill>
                  <a:srgbClr val="0097A7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600"/>
              <a:buFont typeface="Montserrat SemiBold"/>
              <a:buNone/>
              <a:defRPr sz="1600">
                <a:solidFill>
                  <a:srgbClr val="0097A7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71" name="Google Shape;71;p29"/>
          <p:cNvSpPr txBox="1"/>
          <p:nvPr>
            <p:ph idx="2" type="body"/>
          </p:nvPr>
        </p:nvSpPr>
        <p:spPr>
          <a:xfrm>
            <a:off x="187375" y="674550"/>
            <a:ext cx="8703900" cy="3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Title Slide">
  <p:cSld name="26_Title Slid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d44c31ae7_0_369"/>
          <p:cNvSpPr/>
          <p:nvPr>
            <p:ph idx="2" type="pic"/>
          </p:nvPr>
        </p:nvSpPr>
        <p:spPr>
          <a:xfrm>
            <a:off x="1" y="1"/>
            <a:ext cx="9144000" cy="1750200"/>
          </a:xfrm>
          <a:prstGeom prst="roundRect">
            <a:avLst>
              <a:gd fmla="val 0" name="adj"/>
            </a:avLst>
          </a:prstGeom>
          <a:solidFill>
            <a:srgbClr val="F2F2F2">
              <a:alpha val="49800"/>
            </a:srgbClr>
          </a:solidFill>
          <a:ln>
            <a:noFill/>
          </a:ln>
        </p:spPr>
      </p:sp>
      <p:pic>
        <p:nvPicPr>
          <p:cNvPr id="74" name="Google Shape;74;g3dd44c31ae7_0_369" title="logo202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8931" y="4670091"/>
            <a:ext cx="750899" cy="1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g3dd44c31ae7_0_1160" title="logo202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7525" y="315656"/>
            <a:ext cx="750899" cy="1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d44c31ae7_0_659"/>
          <p:cNvSpPr/>
          <p:nvPr>
            <p:ph idx="2" type="pic"/>
          </p:nvPr>
        </p:nvSpPr>
        <p:spPr>
          <a:xfrm>
            <a:off x="4862944" y="624369"/>
            <a:ext cx="3759600" cy="38949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id="82" name="Google Shape;82;g3dd44c31ae7_0_659" title="logo202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7525" y="315656"/>
            <a:ext cx="750899" cy="1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d44c31ae7_0_66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dd44c31ae7_0_66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g3dd44c31ae7_0_6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7" name="Google Shape;87;g3dd44c31ae7_0_662" title="logo202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7525" y="315656"/>
            <a:ext cx="750899" cy="1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d44c31ae7_0_667"/>
          <p:cNvSpPr/>
          <p:nvPr>
            <p:ph idx="2" type="pic"/>
          </p:nvPr>
        </p:nvSpPr>
        <p:spPr>
          <a:xfrm>
            <a:off x="5389555" y="1"/>
            <a:ext cx="3754500" cy="5143500"/>
          </a:xfrm>
          <a:prstGeom prst="roundRect">
            <a:avLst>
              <a:gd fmla="val 0" name="adj"/>
            </a:avLst>
          </a:prstGeom>
          <a:solidFill>
            <a:srgbClr val="F2F2F2">
              <a:alpha val="49800"/>
            </a:srgbClr>
          </a:solidFill>
          <a:ln>
            <a:noFill/>
          </a:ln>
        </p:spPr>
      </p:sp>
      <p:pic>
        <p:nvPicPr>
          <p:cNvPr id="90" name="Google Shape;90;g3dd44c31ae7_0_667" title="logo202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8931" y="4670091"/>
            <a:ext cx="750899" cy="1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9_Title Slide">
  <p:cSld name="39_Title Slid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d44c31ae7_0_670"/>
          <p:cNvSpPr/>
          <p:nvPr>
            <p:ph idx="2" type="pic"/>
          </p:nvPr>
        </p:nvSpPr>
        <p:spPr>
          <a:xfrm>
            <a:off x="4605258" y="-96641"/>
            <a:ext cx="1743900" cy="2235900"/>
          </a:xfrm>
          <a:prstGeom prst="roundRect">
            <a:avLst>
              <a:gd fmla="val 2465" name="adj"/>
            </a:avLst>
          </a:prstGeom>
          <a:solidFill>
            <a:srgbClr val="F2F2F2">
              <a:alpha val="49800"/>
            </a:srgbClr>
          </a:solidFill>
          <a:ln>
            <a:noFill/>
          </a:ln>
        </p:spPr>
      </p:sp>
      <p:sp>
        <p:nvSpPr>
          <p:cNvPr id="93" name="Google Shape;93;g3dd44c31ae7_0_670"/>
          <p:cNvSpPr/>
          <p:nvPr>
            <p:ph idx="3" type="pic"/>
          </p:nvPr>
        </p:nvSpPr>
        <p:spPr>
          <a:xfrm>
            <a:off x="4605258" y="2260166"/>
            <a:ext cx="1743900" cy="2235900"/>
          </a:xfrm>
          <a:prstGeom prst="roundRect">
            <a:avLst>
              <a:gd fmla="val 2465" name="adj"/>
            </a:avLst>
          </a:prstGeom>
          <a:solidFill>
            <a:srgbClr val="F2F2F2">
              <a:alpha val="49800"/>
            </a:srgbClr>
          </a:solidFill>
          <a:ln>
            <a:noFill/>
          </a:ln>
        </p:spPr>
      </p:sp>
      <p:sp>
        <p:nvSpPr>
          <p:cNvPr id="94" name="Google Shape;94;g3dd44c31ae7_0_670"/>
          <p:cNvSpPr/>
          <p:nvPr>
            <p:ph idx="4" type="pic"/>
          </p:nvPr>
        </p:nvSpPr>
        <p:spPr>
          <a:xfrm>
            <a:off x="6473871" y="647524"/>
            <a:ext cx="1743900" cy="2235900"/>
          </a:xfrm>
          <a:prstGeom prst="roundRect">
            <a:avLst>
              <a:gd fmla="val 2465" name="adj"/>
            </a:avLst>
          </a:prstGeom>
          <a:solidFill>
            <a:srgbClr val="F2F2F2">
              <a:alpha val="49800"/>
            </a:srgbClr>
          </a:solidFill>
          <a:ln>
            <a:noFill/>
          </a:ln>
        </p:spPr>
      </p:sp>
      <p:sp>
        <p:nvSpPr>
          <p:cNvPr id="95" name="Google Shape;95;g3dd44c31ae7_0_670"/>
          <p:cNvSpPr/>
          <p:nvPr>
            <p:ph idx="5" type="pic"/>
          </p:nvPr>
        </p:nvSpPr>
        <p:spPr>
          <a:xfrm>
            <a:off x="6473871" y="3004332"/>
            <a:ext cx="1743900" cy="2235900"/>
          </a:xfrm>
          <a:prstGeom prst="roundRect">
            <a:avLst>
              <a:gd fmla="val 2465" name="adj"/>
            </a:avLst>
          </a:prstGeom>
          <a:solidFill>
            <a:srgbClr val="F2F2F2">
              <a:alpha val="49800"/>
            </a:srgbClr>
          </a:solidFill>
          <a:ln>
            <a:noFill/>
          </a:ln>
        </p:spPr>
      </p:sp>
      <p:pic>
        <p:nvPicPr>
          <p:cNvPr id="96" name="Google Shape;96;g3dd44c31ae7_0_670" title="logo202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8931" y="4670091"/>
            <a:ext cx="750899" cy="1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Slide">
  <p:cSld name="6_Title Slide">
    <p:bg>
      <p:bgPr>
        <a:solidFill>
          <a:srgbClr val="F7FB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d44c31ae7_0_676"/>
          <p:cNvSpPr/>
          <p:nvPr>
            <p:ph idx="2" type="pic"/>
          </p:nvPr>
        </p:nvSpPr>
        <p:spPr>
          <a:xfrm>
            <a:off x="4547440" y="1146573"/>
            <a:ext cx="2373900" cy="2850300"/>
          </a:xfrm>
          <a:prstGeom prst="roundRect">
            <a:avLst>
              <a:gd fmla="val 0" name="adj"/>
            </a:avLst>
          </a:prstGeom>
          <a:solidFill>
            <a:srgbClr val="F2F2F2">
              <a:alpha val="49800"/>
            </a:srgbClr>
          </a:solidFill>
          <a:ln>
            <a:noFill/>
          </a:ln>
        </p:spPr>
      </p:sp>
      <p:pic>
        <p:nvPicPr>
          <p:cNvPr id="99" name="Google Shape;99;g3dd44c31ae7_0_676" title="logo202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8931" y="4670091"/>
            <a:ext cx="750899" cy="1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Title Slide">
  <p:cSld name="26_Title Slide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d44c31ae7_0_679"/>
          <p:cNvSpPr/>
          <p:nvPr>
            <p:ph idx="2" type="pic"/>
          </p:nvPr>
        </p:nvSpPr>
        <p:spPr>
          <a:xfrm>
            <a:off x="1" y="1"/>
            <a:ext cx="9144000" cy="1750200"/>
          </a:xfrm>
          <a:prstGeom prst="roundRect">
            <a:avLst>
              <a:gd fmla="val 0" name="adj"/>
            </a:avLst>
          </a:prstGeom>
          <a:solidFill>
            <a:srgbClr val="F2F2F2">
              <a:alpha val="49800"/>
            </a:srgbClr>
          </a:solidFill>
          <a:ln>
            <a:noFill/>
          </a:ln>
        </p:spPr>
      </p:sp>
      <p:pic>
        <p:nvPicPr>
          <p:cNvPr id="102" name="Google Shape;102;g3dd44c31ae7_0_679" title="logo202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8931" y="4670091"/>
            <a:ext cx="750899" cy="1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Title Slide">
  <p:cSld name="28_Title Slid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d44c31ae7_0_682"/>
          <p:cNvSpPr/>
          <p:nvPr>
            <p:ph idx="2" type="pic"/>
          </p:nvPr>
        </p:nvSpPr>
        <p:spPr>
          <a:xfrm>
            <a:off x="385762" y="1544240"/>
            <a:ext cx="2041800" cy="2985900"/>
          </a:xfrm>
          <a:prstGeom prst="rect">
            <a:avLst/>
          </a:prstGeom>
          <a:solidFill>
            <a:srgbClr val="D8D8D8">
              <a:alpha val="40000"/>
            </a:srgbClr>
          </a:solidFill>
          <a:ln>
            <a:noFill/>
          </a:ln>
        </p:spPr>
      </p:sp>
      <p:sp>
        <p:nvSpPr>
          <p:cNvPr id="105" name="Google Shape;105;g3dd44c31ae7_0_682"/>
          <p:cNvSpPr/>
          <p:nvPr>
            <p:ph idx="3" type="pic"/>
          </p:nvPr>
        </p:nvSpPr>
        <p:spPr>
          <a:xfrm>
            <a:off x="2510518" y="1544240"/>
            <a:ext cx="2041800" cy="2985900"/>
          </a:xfrm>
          <a:prstGeom prst="rect">
            <a:avLst/>
          </a:prstGeom>
          <a:solidFill>
            <a:srgbClr val="D8D8D8">
              <a:alpha val="40000"/>
            </a:srgbClr>
          </a:solidFill>
          <a:ln>
            <a:noFill/>
          </a:ln>
        </p:spPr>
      </p:sp>
      <p:sp>
        <p:nvSpPr>
          <p:cNvPr id="106" name="Google Shape;106;g3dd44c31ae7_0_682"/>
          <p:cNvSpPr/>
          <p:nvPr>
            <p:ph idx="4" type="pic"/>
          </p:nvPr>
        </p:nvSpPr>
        <p:spPr>
          <a:xfrm>
            <a:off x="4619641" y="1544240"/>
            <a:ext cx="2041800" cy="2985900"/>
          </a:xfrm>
          <a:prstGeom prst="rect">
            <a:avLst/>
          </a:prstGeom>
          <a:solidFill>
            <a:srgbClr val="D8D8D8">
              <a:alpha val="40000"/>
            </a:srgbClr>
          </a:solidFill>
          <a:ln>
            <a:noFill/>
          </a:ln>
        </p:spPr>
      </p:sp>
      <p:sp>
        <p:nvSpPr>
          <p:cNvPr id="107" name="Google Shape;107;g3dd44c31ae7_0_682"/>
          <p:cNvSpPr/>
          <p:nvPr>
            <p:ph idx="5" type="pic"/>
          </p:nvPr>
        </p:nvSpPr>
        <p:spPr>
          <a:xfrm>
            <a:off x="6745273" y="1544240"/>
            <a:ext cx="2041800" cy="2985900"/>
          </a:xfrm>
          <a:prstGeom prst="rect">
            <a:avLst/>
          </a:prstGeom>
          <a:solidFill>
            <a:srgbClr val="D8D8D8">
              <a:alpha val="4000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Slide">
  <p:cSld name="14_Title Slide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d44c31ae7_0_687"/>
          <p:cNvSpPr/>
          <p:nvPr>
            <p:ph idx="2" type="pic"/>
          </p:nvPr>
        </p:nvSpPr>
        <p:spPr>
          <a:xfrm>
            <a:off x="1387622" y="704761"/>
            <a:ext cx="2992200" cy="3733800"/>
          </a:xfrm>
          <a:prstGeom prst="rect">
            <a:avLst/>
          </a:prstGeom>
          <a:solidFill>
            <a:srgbClr val="F2F2F2">
              <a:alpha val="49800"/>
            </a:srgbClr>
          </a:solidFill>
          <a:ln>
            <a:noFill/>
          </a:ln>
        </p:spPr>
      </p:sp>
      <p:pic>
        <p:nvPicPr>
          <p:cNvPr id="110" name="Google Shape;110;g3dd44c31ae7_0_687" title="logo202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7525" y="315656"/>
            <a:ext cx="750899" cy="1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">
  <p:cSld name="4_Title Slid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d44c31ae7_0_690"/>
          <p:cNvSpPr/>
          <p:nvPr>
            <p:ph idx="2" type="pic"/>
          </p:nvPr>
        </p:nvSpPr>
        <p:spPr>
          <a:xfrm>
            <a:off x="5250426" y="-1"/>
            <a:ext cx="3893700" cy="5143500"/>
          </a:xfrm>
          <a:prstGeom prst="rect">
            <a:avLst/>
          </a:prstGeom>
          <a:solidFill>
            <a:srgbClr val="D8D8D8">
              <a:alpha val="9800"/>
            </a:srgbClr>
          </a:solidFill>
          <a:ln>
            <a:noFill/>
          </a:ln>
        </p:spPr>
      </p:sp>
      <p:pic>
        <p:nvPicPr>
          <p:cNvPr id="113" name="Google Shape;113;g3dd44c31ae7_0_690" title="logo202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8931" y="4670091"/>
            <a:ext cx="750899" cy="1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Title Slide">
  <p:cSld name="24_Title Slid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d44c31ae7_0_693"/>
          <p:cNvSpPr/>
          <p:nvPr>
            <p:ph idx="2" type="pic"/>
          </p:nvPr>
        </p:nvSpPr>
        <p:spPr>
          <a:xfrm>
            <a:off x="4804172" y="2034044"/>
            <a:ext cx="3286200" cy="2063100"/>
          </a:xfrm>
          <a:prstGeom prst="roundRect">
            <a:avLst>
              <a:gd fmla="val 0" name="adj"/>
            </a:avLst>
          </a:prstGeom>
          <a:solidFill>
            <a:srgbClr val="F2F2F2">
              <a:alpha val="49800"/>
            </a:srgbClr>
          </a:solidFill>
          <a:ln>
            <a:noFill/>
          </a:ln>
        </p:spPr>
      </p:sp>
      <p:pic>
        <p:nvPicPr>
          <p:cNvPr id="116" name="Google Shape;116;g3dd44c31ae7_0_693" title="logo202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8931" y="4670091"/>
            <a:ext cx="750899" cy="1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Title Slide">
  <p:cSld name="27_Title Slide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d44c31ae7_0_696"/>
          <p:cNvSpPr/>
          <p:nvPr>
            <p:ph idx="2" type="pic"/>
          </p:nvPr>
        </p:nvSpPr>
        <p:spPr>
          <a:xfrm>
            <a:off x="-165034" y="-261826"/>
            <a:ext cx="1698600" cy="3693300"/>
          </a:xfrm>
          <a:prstGeom prst="rect">
            <a:avLst/>
          </a:prstGeom>
          <a:solidFill>
            <a:srgbClr val="F2F2F2">
              <a:alpha val="49800"/>
            </a:srgbClr>
          </a:solidFill>
          <a:ln>
            <a:noFill/>
          </a:ln>
        </p:spPr>
      </p:sp>
      <p:sp>
        <p:nvSpPr>
          <p:cNvPr id="119" name="Google Shape;119;g3dd44c31ae7_0_696"/>
          <p:cNvSpPr/>
          <p:nvPr>
            <p:ph idx="3" type="pic"/>
          </p:nvPr>
        </p:nvSpPr>
        <p:spPr>
          <a:xfrm>
            <a:off x="2021029" y="728663"/>
            <a:ext cx="1698600" cy="3693300"/>
          </a:xfrm>
          <a:prstGeom prst="rect">
            <a:avLst/>
          </a:prstGeom>
          <a:solidFill>
            <a:srgbClr val="F2F2F2">
              <a:alpha val="49800"/>
            </a:srgbClr>
          </a:solidFill>
          <a:ln>
            <a:noFill/>
          </a:ln>
        </p:spPr>
      </p:sp>
      <p:pic>
        <p:nvPicPr>
          <p:cNvPr id="120" name="Google Shape;120;g3dd44c31ae7_0_696" title="logo202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8931" y="4670091"/>
            <a:ext cx="750899" cy="1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g3dd44c31ae7_0_700" title="logo202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7525" y="315656"/>
            <a:ext cx="750899" cy="1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d44c31ae7_0_702"/>
          <p:cNvSpPr/>
          <p:nvPr>
            <p:ph idx="2" type="pic"/>
          </p:nvPr>
        </p:nvSpPr>
        <p:spPr>
          <a:xfrm>
            <a:off x="552450" y="470129"/>
            <a:ext cx="3140700" cy="4673400"/>
          </a:xfrm>
          <a:prstGeom prst="rect">
            <a:avLst/>
          </a:prstGeom>
          <a:solidFill>
            <a:srgbClr val="D8D8D8">
              <a:alpha val="0"/>
            </a:srgbClr>
          </a:solidFill>
          <a:ln>
            <a:noFill/>
          </a:ln>
        </p:spPr>
      </p:sp>
      <p:pic>
        <p:nvPicPr>
          <p:cNvPr id="125" name="Google Shape;125;g3dd44c31ae7_0_702" title="logo202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7525" y="315656"/>
            <a:ext cx="750899" cy="1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d44c31ae7_0_705"/>
          <p:cNvSpPr/>
          <p:nvPr>
            <p:ph idx="2" type="pic"/>
          </p:nvPr>
        </p:nvSpPr>
        <p:spPr>
          <a:xfrm>
            <a:off x="0" y="1101666"/>
            <a:ext cx="9144000" cy="1941300"/>
          </a:xfrm>
          <a:prstGeom prst="rect">
            <a:avLst/>
          </a:prstGeom>
          <a:noFill/>
          <a:ln>
            <a:noFill/>
          </a:ln>
        </p:spPr>
      </p:sp>
      <p:pic>
        <p:nvPicPr>
          <p:cNvPr id="128" name="Google Shape;128;g3dd44c31ae7_0_705" title="logo202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7525" y="315656"/>
            <a:ext cx="750899" cy="1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3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d44c31ae7_0_656"/>
          <p:cNvSpPr/>
          <p:nvPr/>
        </p:nvSpPr>
        <p:spPr>
          <a:xfrm>
            <a:off x="8639069" y="4632866"/>
            <a:ext cx="273600" cy="273600"/>
          </a:xfrm>
          <a:prstGeom prst="ellipse">
            <a:avLst/>
          </a:prstGeom>
          <a:solidFill>
            <a:srgbClr val="B2E5E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9" name="Google Shape;79;g3dd44c31ae7_0_656"/>
          <p:cNvSpPr txBox="1"/>
          <p:nvPr/>
        </p:nvSpPr>
        <p:spPr>
          <a:xfrm flipH="1">
            <a:off x="8573550" y="4665767"/>
            <a:ext cx="404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3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1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d44c31ae7_0_59"/>
          <p:cNvSpPr txBox="1"/>
          <p:nvPr/>
        </p:nvSpPr>
        <p:spPr>
          <a:xfrm>
            <a:off x="832525" y="1500150"/>
            <a:ext cx="4004700" cy="11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Capturing Africa’s GovTech Wave Together</a:t>
            </a:r>
            <a:endParaRPr b="1" sz="270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A collage of people with different poses&#10;&#10;Description automatically generated" id="135" name="Google Shape;135;g3dd44c31ae7_0_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2616" y="717037"/>
            <a:ext cx="4131484" cy="434041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dd44c31ae7_0_59"/>
          <p:cNvSpPr txBox="1"/>
          <p:nvPr/>
        </p:nvSpPr>
        <p:spPr>
          <a:xfrm>
            <a:off x="916798" y="2736296"/>
            <a:ext cx="40047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68521"/>
                </a:solidFill>
                <a:latin typeface="DM Sans"/>
                <a:ea typeface="DM Sans"/>
                <a:cs typeface="DM Sans"/>
                <a:sym typeface="DM Sans"/>
              </a:rPr>
              <a:t>eGov &lt;&gt; Africom &lt;&gt; Orbit Partnership Discussion</a:t>
            </a:r>
            <a:endParaRPr b="1" sz="2200">
              <a:solidFill>
                <a:srgbClr val="F6852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d44c31ae7_0_118"/>
          <p:cNvSpPr txBox="1"/>
          <p:nvPr/>
        </p:nvSpPr>
        <p:spPr>
          <a:xfrm>
            <a:off x="715425" y="1427664"/>
            <a:ext cx="31119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A80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GovTech is the Fastest-Growing Vertical in Africa</a:t>
            </a:r>
            <a:endParaRPr b="1" sz="270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A80"/>
              </a:buClr>
              <a:buSzPts val="2700"/>
              <a:buFont typeface="Arial"/>
              <a:buNone/>
            </a:pPr>
            <a:r>
              <a:t/>
            </a:r>
            <a:endParaRPr b="1" sz="270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3" name="Google Shape;143;g3dd44c31ae7_0_118"/>
          <p:cNvSpPr/>
          <p:nvPr/>
        </p:nvSpPr>
        <p:spPr>
          <a:xfrm>
            <a:off x="715425" y="2669178"/>
            <a:ext cx="2948400" cy="1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The African Union's DPI commitments are aligning national digitisation agendas across the continent</a:t>
            </a:r>
            <a:endParaRPr sz="8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4" name="Google Shape;144;g3dd44c31ae7_0_118"/>
          <p:cNvSpPr/>
          <p:nvPr/>
        </p:nvSpPr>
        <p:spPr>
          <a:xfrm>
            <a:off x="4913553" y="3940661"/>
            <a:ext cx="443700" cy="443700"/>
          </a:xfrm>
          <a:prstGeom prst="ellipse">
            <a:avLst/>
          </a:prstGeom>
          <a:solidFill>
            <a:srgbClr val="B2E5E9"/>
          </a:solidFill>
          <a:ln>
            <a:noFill/>
          </a:ln>
          <a:effectLst>
            <a:outerShdw blurRad="247650" sx="70000" rotWithShape="0" algn="tr" dir="8100000" dist="219075" sy="70000">
              <a:srgbClr val="0C0C0C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5" name="Google Shape;145;g3dd44c31ae7_0_118"/>
          <p:cNvSpPr/>
          <p:nvPr/>
        </p:nvSpPr>
        <p:spPr>
          <a:xfrm>
            <a:off x="4928051" y="1044632"/>
            <a:ext cx="353100" cy="353100"/>
          </a:xfrm>
          <a:prstGeom prst="ellipse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6" name="Google Shape;146;g3dd44c31ae7_0_118"/>
          <p:cNvSpPr txBox="1"/>
          <p:nvPr/>
        </p:nvSpPr>
        <p:spPr>
          <a:xfrm>
            <a:off x="5503482" y="2669175"/>
            <a:ext cx="2223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Capital Inflow into the vertical</a:t>
            </a:r>
            <a:endParaRPr b="1" sz="90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7" name="Google Shape;147;g3dd44c31ae7_0_118"/>
          <p:cNvSpPr/>
          <p:nvPr/>
        </p:nvSpPr>
        <p:spPr>
          <a:xfrm flipH="1">
            <a:off x="5512791" y="2883671"/>
            <a:ext cx="23274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World Bank, EU, Gates Foundation, GIZ, UNDP are active funders across East Africa — the capital is already flowing into GovTech</a:t>
            </a:r>
            <a:endParaRPr sz="8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8" name="Google Shape;148;g3dd44c31ae7_0_118"/>
          <p:cNvSpPr txBox="1"/>
          <p:nvPr/>
        </p:nvSpPr>
        <p:spPr>
          <a:xfrm>
            <a:off x="5503482" y="1025400"/>
            <a:ext cx="2623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Regional Demand is growing across countries</a:t>
            </a:r>
            <a:endParaRPr b="1" sz="90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9" name="Google Shape;149;g3dd44c31ae7_0_118"/>
          <p:cNvSpPr/>
          <p:nvPr/>
        </p:nvSpPr>
        <p:spPr>
          <a:xfrm flipH="1">
            <a:off x="5543664" y="1397725"/>
            <a:ext cx="23274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Every major East African country has an active national digitization mandate: </a:t>
            </a:r>
            <a:r>
              <a:rPr i="1" lang="en" sz="8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Ethiopia's Digital Ethiopia 2030, Kenya's Digital Economy Blueprint, Rwanda's Smart Rwanda, Uganda's Digital Vision</a:t>
            </a:r>
            <a:r>
              <a:rPr lang="en" sz="8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 — the demand is regional and simultaneous</a:t>
            </a:r>
            <a:endParaRPr sz="8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0" name="Google Shape;150;g3dd44c31ae7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6720" y="4023392"/>
            <a:ext cx="219485" cy="261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dd44c31ae7_0_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8527" y="1136498"/>
            <a:ext cx="192000" cy="16921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dd44c31ae7_0_118"/>
          <p:cNvSpPr/>
          <p:nvPr/>
        </p:nvSpPr>
        <p:spPr>
          <a:xfrm>
            <a:off x="4958853" y="2596565"/>
            <a:ext cx="353100" cy="353100"/>
          </a:xfrm>
          <a:prstGeom prst="ellipse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3" name="Google Shape;153;g3dd44c31ae7_0_118"/>
          <p:cNvSpPr txBox="1"/>
          <p:nvPr/>
        </p:nvSpPr>
        <p:spPr>
          <a:xfrm>
            <a:off x="5503490" y="3940650"/>
            <a:ext cx="250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DPI Adoption is increasing</a:t>
            </a:r>
            <a:endParaRPr b="1" sz="90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4" name="Google Shape;154;g3dd44c31ae7_0_118"/>
          <p:cNvSpPr/>
          <p:nvPr/>
        </p:nvSpPr>
        <p:spPr>
          <a:xfrm flipH="1">
            <a:off x="5512791" y="4155136"/>
            <a:ext cx="23274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Governments across the region are benchmarking India's DPI stack - the language they're hearing from donors and advisors is DPI-native</a:t>
            </a:r>
            <a:endParaRPr sz="8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5" name="Google Shape;155;g3dd44c31ae7_0_1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9016" y="2712553"/>
            <a:ext cx="252625" cy="145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/>
          <p:nvPr/>
        </p:nvSpPr>
        <p:spPr>
          <a:xfrm>
            <a:off x="0" y="-48399"/>
            <a:ext cx="184731" cy="55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0" y="-48399"/>
            <a:ext cx="184731" cy="55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419111" y="206075"/>
            <a:ext cx="69648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Systems Integrators, with existing government relationships can ride this wave with the right offering</a:t>
            </a:r>
            <a:endParaRPr b="1" sz="200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472000" y="1998020"/>
            <a:ext cx="3264300" cy="1012200"/>
          </a:xfrm>
          <a:prstGeom prst="roundRect">
            <a:avLst>
              <a:gd fmla="val 3620" name="adj"/>
            </a:avLst>
          </a:prstGeom>
          <a:solidFill>
            <a:srgbClr val="E0F2FC"/>
          </a:solidFill>
          <a:ln>
            <a:noFill/>
          </a:ln>
          <a:effectLst>
            <a:outerShdw blurRad="762000" sx="90000" rotWithShape="0" algn="tl" dir="2700000" dist="533400" sy="90000">
              <a:srgbClr val="000000">
                <a:alpha val="98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64" name="Google Shape;164;p3"/>
          <p:cNvGrpSpPr/>
          <p:nvPr/>
        </p:nvGrpSpPr>
        <p:grpSpPr>
          <a:xfrm>
            <a:off x="619424" y="2084803"/>
            <a:ext cx="2725528" cy="962539"/>
            <a:chOff x="1591552" y="4825664"/>
            <a:chExt cx="2262600" cy="1283385"/>
          </a:xfrm>
        </p:grpSpPr>
        <p:sp>
          <p:nvSpPr>
            <p:cNvPr id="165" name="Google Shape;165;p3"/>
            <p:cNvSpPr txBox="1"/>
            <p:nvPr/>
          </p:nvSpPr>
          <p:spPr>
            <a:xfrm>
              <a:off x="1591552" y="5212349"/>
              <a:ext cx="2262600" cy="89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rPr>
                <a:t>12–18 month timelines, no guarantee of delivery, data silos across departments as each agency builds its own</a:t>
              </a:r>
              <a:endParaRPr sz="8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6" name="Google Shape;166;p3"/>
            <p:cNvSpPr txBox="1"/>
            <p:nvPr/>
          </p:nvSpPr>
          <p:spPr>
            <a:xfrm>
              <a:off x="1591552" y="4825664"/>
              <a:ext cx="2262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rPr>
                <a:t>Custom Builds</a:t>
              </a:r>
              <a:endParaRPr b="1" sz="12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67" name="Google Shape;167;p3"/>
          <p:cNvSpPr/>
          <p:nvPr/>
        </p:nvSpPr>
        <p:spPr>
          <a:xfrm>
            <a:off x="4172450" y="1998045"/>
            <a:ext cx="3264300" cy="1012200"/>
          </a:xfrm>
          <a:prstGeom prst="roundRect">
            <a:avLst>
              <a:gd fmla="val 2884" name="adj"/>
            </a:avLst>
          </a:prstGeom>
          <a:solidFill>
            <a:srgbClr val="FAB484"/>
          </a:solidFill>
          <a:ln>
            <a:noFill/>
          </a:ln>
          <a:effectLst>
            <a:outerShdw blurRad="762000" sx="90000" rotWithShape="0" algn="tl" dir="2700000" dist="533400" sy="90000">
              <a:srgbClr val="000000">
                <a:alpha val="98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4563518" y="2363591"/>
            <a:ext cx="24825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Go-live in days, not months. Ability to share data across systems. </a:t>
            </a:r>
            <a:endParaRPr sz="9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4563518" y="2084737"/>
            <a:ext cx="2482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Rapid Deployment</a:t>
            </a:r>
            <a:endParaRPr sz="1100"/>
          </a:p>
        </p:txBody>
      </p:sp>
      <p:sp>
        <p:nvSpPr>
          <p:cNvPr id="170" name="Google Shape;170;p3"/>
          <p:cNvSpPr/>
          <p:nvPr/>
        </p:nvSpPr>
        <p:spPr>
          <a:xfrm>
            <a:off x="472000" y="3267820"/>
            <a:ext cx="3264300" cy="1012200"/>
          </a:xfrm>
          <a:prstGeom prst="roundRect">
            <a:avLst>
              <a:gd fmla="val 3620" name="adj"/>
            </a:avLst>
          </a:prstGeom>
          <a:solidFill>
            <a:srgbClr val="E0F2FC"/>
          </a:solidFill>
          <a:ln>
            <a:noFill/>
          </a:ln>
          <a:effectLst>
            <a:outerShdw blurRad="762000" sx="90000" rotWithShape="0" algn="tl" dir="2700000" dist="533400" sy="90000">
              <a:srgbClr val="000000">
                <a:alpha val="98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71" name="Google Shape;171;p3"/>
          <p:cNvGrpSpPr/>
          <p:nvPr/>
        </p:nvGrpSpPr>
        <p:grpSpPr>
          <a:xfrm>
            <a:off x="619423" y="3456601"/>
            <a:ext cx="2482072" cy="641622"/>
            <a:chOff x="1591552" y="4784598"/>
            <a:chExt cx="2262600" cy="835119"/>
          </a:xfrm>
        </p:grpSpPr>
        <p:sp>
          <p:nvSpPr>
            <p:cNvPr id="172" name="Google Shape;172;p3"/>
            <p:cNvSpPr txBox="1"/>
            <p:nvPr/>
          </p:nvSpPr>
          <p:spPr>
            <a:xfrm>
              <a:off x="1591552" y="5161017"/>
              <a:ext cx="2262600" cy="45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rPr>
                <a:t>High Cost, Sovereignty concerns, data residency issues, not DPI and funder alignedl</a:t>
              </a:r>
              <a:endParaRPr sz="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73" name="Google Shape;173;p3"/>
            <p:cNvSpPr txBox="1"/>
            <p:nvPr/>
          </p:nvSpPr>
          <p:spPr>
            <a:xfrm>
              <a:off x="1591552" y="4784598"/>
              <a:ext cx="2262600" cy="33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rPr>
                <a:t>Foreign black-box SaaS</a:t>
              </a:r>
              <a:endParaRPr sz="1100"/>
            </a:p>
          </p:txBody>
        </p:sp>
      </p:grpSp>
      <p:sp>
        <p:nvSpPr>
          <p:cNvPr id="174" name="Google Shape;174;p3"/>
          <p:cNvSpPr/>
          <p:nvPr/>
        </p:nvSpPr>
        <p:spPr>
          <a:xfrm>
            <a:off x="4172450" y="3267845"/>
            <a:ext cx="3264300" cy="1012200"/>
          </a:xfrm>
          <a:prstGeom prst="roundRect">
            <a:avLst>
              <a:gd fmla="val 2884" name="adj"/>
            </a:avLst>
          </a:prstGeom>
          <a:solidFill>
            <a:srgbClr val="FAB484"/>
          </a:solidFill>
          <a:ln>
            <a:noFill/>
          </a:ln>
          <a:effectLst>
            <a:outerShdw blurRad="762000" sx="90000" rotWithShape="0" algn="tl" dir="2700000" dist="533400" sy="90000">
              <a:srgbClr val="000000">
                <a:alpha val="98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4610193" y="3706617"/>
            <a:ext cx="24825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Locally hosted, full control over data, path to own infrastructure.</a:t>
            </a:r>
            <a:endParaRPr sz="9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4563518" y="3452813"/>
            <a:ext cx="2482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Control over System and Data</a:t>
            </a:r>
            <a:endParaRPr sz="1100"/>
          </a:p>
        </p:txBody>
      </p:sp>
      <p:sp>
        <p:nvSpPr>
          <p:cNvPr id="177" name="Google Shape;177;p3"/>
          <p:cNvSpPr txBox="1"/>
          <p:nvPr/>
        </p:nvSpPr>
        <p:spPr>
          <a:xfrm>
            <a:off x="472001" y="1531125"/>
            <a:ext cx="297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What’s Available Today</a:t>
            </a:r>
            <a:endParaRPr b="1"/>
          </a:p>
        </p:txBody>
      </p:sp>
      <p:sp>
        <p:nvSpPr>
          <p:cNvPr id="178" name="Google Shape;178;p3"/>
          <p:cNvSpPr txBox="1"/>
          <p:nvPr/>
        </p:nvSpPr>
        <p:spPr>
          <a:xfrm>
            <a:off x="4219301" y="1580325"/>
            <a:ext cx="32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What governments need</a:t>
            </a:r>
            <a:endParaRPr b="1"/>
          </a:p>
        </p:txBody>
      </p:sp>
      <p:sp>
        <p:nvSpPr>
          <p:cNvPr id="179" name="Google Shape;179;p3"/>
          <p:cNvSpPr txBox="1"/>
          <p:nvPr/>
        </p:nvSpPr>
        <p:spPr>
          <a:xfrm>
            <a:off x="7295225" y="2440175"/>
            <a:ext cx="25641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d44c31ae7_0_627"/>
          <p:cNvSpPr txBox="1"/>
          <p:nvPr/>
        </p:nvSpPr>
        <p:spPr>
          <a:xfrm>
            <a:off x="903928" y="606175"/>
            <a:ext cx="6528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Introducing eGov SaaS Products</a:t>
            </a:r>
            <a:endParaRPr b="1" sz="270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6" name="Google Shape;186;g3dd44c31ae7_0_627"/>
          <p:cNvSpPr/>
          <p:nvPr/>
        </p:nvSpPr>
        <p:spPr>
          <a:xfrm>
            <a:off x="903925" y="1901177"/>
            <a:ext cx="2225400" cy="2922000"/>
          </a:xfrm>
          <a:prstGeom prst="roundRect">
            <a:avLst>
              <a:gd fmla="val 2741" name="adj"/>
            </a:avLst>
          </a:prstGeom>
          <a:solidFill>
            <a:srgbClr val="C6DEF6"/>
          </a:solidFill>
          <a:ln cap="flat" cmpd="sng" w="7150">
            <a:solidFill>
              <a:srgbClr val="C6DEF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87" name="Google Shape;187;g3dd44c31ae7_0_627"/>
          <p:cNvGrpSpPr/>
          <p:nvPr/>
        </p:nvGrpSpPr>
        <p:grpSpPr>
          <a:xfrm>
            <a:off x="1077521" y="2121062"/>
            <a:ext cx="1878056" cy="2192440"/>
            <a:chOff x="2299619" y="3518185"/>
            <a:chExt cx="2152500" cy="2923253"/>
          </a:xfrm>
        </p:grpSpPr>
        <p:cxnSp>
          <p:nvCxnSpPr>
            <p:cNvPr id="188" name="Google Shape;188;g3dd44c31ae7_0_627"/>
            <p:cNvCxnSpPr/>
            <p:nvPr/>
          </p:nvCxnSpPr>
          <p:spPr>
            <a:xfrm>
              <a:off x="2299619" y="3518185"/>
              <a:ext cx="2152500" cy="0"/>
            </a:xfrm>
            <a:prstGeom prst="straightConnector1">
              <a:avLst/>
            </a:prstGeom>
            <a:noFill/>
            <a:ln cap="flat" cmpd="sng" w="71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9" name="Google Shape;189;g3dd44c31ae7_0_627"/>
            <p:cNvSpPr txBox="1"/>
            <p:nvPr/>
          </p:nvSpPr>
          <p:spPr>
            <a:xfrm>
              <a:off x="2378256" y="3708594"/>
              <a:ext cx="1995300" cy="7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273A80"/>
                  </a:solidFill>
                  <a:latin typeface="DM Sans"/>
                  <a:ea typeface="DM Sans"/>
                  <a:cs typeface="DM Sans"/>
                  <a:sym typeface="DM Sans"/>
                </a:rPr>
                <a:t>First use case in &lt;4 days</a:t>
              </a:r>
              <a:endParaRPr sz="1800">
                <a:solidFill>
                  <a:srgbClr val="273A80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90" name="Google Shape;190;g3dd44c31ae7_0_627"/>
            <p:cNvSpPr txBox="1"/>
            <p:nvPr/>
          </p:nvSpPr>
          <p:spPr>
            <a:xfrm>
              <a:off x="2378255" y="4963938"/>
              <a:ext cx="1995300" cy="147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rPr>
                <a:t>Kickstart a government’s DPI journey with either Complaints Management or License and Permits on the SaaS instance with a highly configurable product</a:t>
              </a:r>
              <a:endParaRPr sz="9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91" name="Google Shape;191;g3dd44c31ae7_0_627"/>
          <p:cNvSpPr/>
          <p:nvPr/>
        </p:nvSpPr>
        <p:spPr>
          <a:xfrm>
            <a:off x="3506671" y="1901177"/>
            <a:ext cx="2225400" cy="2956800"/>
          </a:xfrm>
          <a:prstGeom prst="roundRect">
            <a:avLst>
              <a:gd fmla="val 2741" name="adj"/>
            </a:avLst>
          </a:prstGeom>
          <a:solidFill>
            <a:srgbClr val="E0F2FC"/>
          </a:solidFill>
          <a:ln cap="flat" cmpd="sng" w="7150">
            <a:solidFill>
              <a:srgbClr val="E0F2F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92" name="Google Shape;192;g3dd44c31ae7_0_627"/>
          <p:cNvGrpSpPr/>
          <p:nvPr/>
        </p:nvGrpSpPr>
        <p:grpSpPr>
          <a:xfrm>
            <a:off x="3680235" y="2121062"/>
            <a:ext cx="1878056" cy="2012440"/>
            <a:chOff x="5019753" y="3518185"/>
            <a:chExt cx="2152500" cy="2683253"/>
          </a:xfrm>
        </p:grpSpPr>
        <p:sp>
          <p:nvSpPr>
            <p:cNvPr id="193" name="Google Shape;193;g3dd44c31ae7_0_627"/>
            <p:cNvSpPr txBox="1"/>
            <p:nvPr/>
          </p:nvSpPr>
          <p:spPr>
            <a:xfrm>
              <a:off x="5098390" y="3750144"/>
              <a:ext cx="1995300" cy="7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273A80"/>
                  </a:solidFill>
                  <a:latin typeface="DM Sans"/>
                  <a:ea typeface="DM Sans"/>
                  <a:cs typeface="DM Sans"/>
                  <a:sym typeface="DM Sans"/>
                </a:rPr>
                <a:t>Aligned to the DPI narrative</a:t>
              </a:r>
              <a:endParaRPr sz="1800">
                <a:solidFill>
                  <a:srgbClr val="273A80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194" name="Google Shape;194;g3dd44c31ae7_0_627"/>
            <p:cNvCxnSpPr/>
            <p:nvPr/>
          </p:nvCxnSpPr>
          <p:spPr>
            <a:xfrm>
              <a:off x="5019753" y="3518185"/>
              <a:ext cx="2152500" cy="0"/>
            </a:xfrm>
            <a:prstGeom prst="straightConnector1">
              <a:avLst/>
            </a:prstGeom>
            <a:noFill/>
            <a:ln cap="flat" cmpd="sng" w="71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5" name="Google Shape;195;g3dd44c31ae7_0_627"/>
            <p:cNvSpPr txBox="1"/>
            <p:nvPr/>
          </p:nvSpPr>
          <p:spPr>
            <a:xfrm>
              <a:off x="5098390" y="4963938"/>
              <a:ext cx="1995300" cy="12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rPr>
                <a:t>Built on the same open-source DPI used across 300M+ citizens in India and multiple LMIC governments</a:t>
              </a:r>
              <a:endParaRPr sz="9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96" name="Google Shape;196;g3dd44c31ae7_0_627"/>
          <p:cNvSpPr/>
          <p:nvPr/>
        </p:nvSpPr>
        <p:spPr>
          <a:xfrm>
            <a:off x="6109425" y="1901175"/>
            <a:ext cx="2225400" cy="2956800"/>
          </a:xfrm>
          <a:prstGeom prst="roundRect">
            <a:avLst>
              <a:gd fmla="val 2741" name="adj"/>
            </a:avLst>
          </a:prstGeom>
          <a:solidFill>
            <a:srgbClr val="C0E7EC"/>
          </a:solidFill>
          <a:ln cap="flat" cmpd="sng" w="7150">
            <a:solidFill>
              <a:srgbClr val="C0E7E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97" name="Google Shape;197;g3dd44c31ae7_0_627"/>
          <p:cNvGrpSpPr/>
          <p:nvPr/>
        </p:nvGrpSpPr>
        <p:grpSpPr>
          <a:xfrm>
            <a:off x="6282950" y="2121062"/>
            <a:ext cx="1878056" cy="2012440"/>
            <a:chOff x="7739888" y="3518185"/>
            <a:chExt cx="2152500" cy="2683253"/>
          </a:xfrm>
        </p:grpSpPr>
        <p:sp>
          <p:nvSpPr>
            <p:cNvPr id="198" name="Google Shape;198;g3dd44c31ae7_0_627"/>
            <p:cNvSpPr txBox="1"/>
            <p:nvPr/>
          </p:nvSpPr>
          <p:spPr>
            <a:xfrm>
              <a:off x="7818525" y="3750144"/>
              <a:ext cx="1995300" cy="10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273A80"/>
                  </a:solidFill>
                  <a:latin typeface="DM Sans"/>
                  <a:ea typeface="DM Sans"/>
                  <a:cs typeface="DM Sans"/>
                  <a:sym typeface="DM Sans"/>
                </a:rPr>
                <a:t>Aligned to Sovereignty needs</a:t>
              </a:r>
              <a:endParaRPr b="1" sz="18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199" name="Google Shape;199;g3dd44c31ae7_0_627"/>
            <p:cNvCxnSpPr/>
            <p:nvPr/>
          </p:nvCxnSpPr>
          <p:spPr>
            <a:xfrm>
              <a:off x="7739888" y="3518185"/>
              <a:ext cx="2152500" cy="0"/>
            </a:xfrm>
            <a:prstGeom prst="straightConnector1">
              <a:avLst/>
            </a:prstGeom>
            <a:noFill/>
            <a:ln cap="flat" cmpd="sng" w="71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0" name="Google Shape;200;g3dd44c31ae7_0_627"/>
            <p:cNvSpPr txBox="1"/>
            <p:nvPr/>
          </p:nvSpPr>
          <p:spPr>
            <a:xfrm>
              <a:off x="7818524" y="4963938"/>
              <a:ext cx="1995300" cy="12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rPr>
                <a:t>Governments can have full control over their data and system - </a:t>
              </a:r>
              <a:r>
                <a:rPr lang="en" sz="9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rPr>
                <a:t>Migrate out of SaaS at any point and add additional use cases on DIGIT</a:t>
              </a:r>
              <a:endParaRPr sz="9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01" name="Google Shape;201;g3dd44c31ae7_0_627"/>
          <p:cNvSpPr/>
          <p:nvPr/>
        </p:nvSpPr>
        <p:spPr>
          <a:xfrm>
            <a:off x="1001575" y="1263700"/>
            <a:ext cx="3483300" cy="371100"/>
          </a:xfrm>
          <a:prstGeom prst="roundRect">
            <a:avLst>
              <a:gd fmla="val 50000" name="adj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DIGIT License and Permit Management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02" name="Google Shape;202;g3dd44c31ae7_0_627"/>
          <p:cNvSpPr/>
          <p:nvPr/>
        </p:nvSpPr>
        <p:spPr>
          <a:xfrm>
            <a:off x="4618898" y="1263700"/>
            <a:ext cx="3136800" cy="371100"/>
          </a:xfrm>
          <a:prstGeom prst="roundRect">
            <a:avLst>
              <a:gd fmla="val 50000" name="adj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DIGIT Complaints Management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03" name="Google Shape;203;g3dd44c31ae7_0_627" title="noun-complaint-8119330.png"/>
          <p:cNvPicPr preferRelativeResize="0"/>
          <p:nvPr/>
        </p:nvPicPr>
        <p:blipFill rotWithShape="1">
          <a:blip r:embed="rId3">
            <a:alphaModFix/>
          </a:blip>
          <a:srcRect b="16136" l="0" r="0" t="0"/>
          <a:stretch/>
        </p:blipFill>
        <p:spPr>
          <a:xfrm>
            <a:off x="4755850" y="1326174"/>
            <a:ext cx="293526" cy="246164"/>
          </a:xfrm>
          <a:prstGeom prst="rect">
            <a:avLst/>
          </a:prstGeom>
          <a:solidFill>
            <a:srgbClr val="F9CB9C"/>
          </a:solidFill>
          <a:ln>
            <a:noFill/>
          </a:ln>
        </p:spPr>
      </p:pic>
      <p:pic>
        <p:nvPicPr>
          <p:cNvPr id="204" name="Google Shape;204;g3dd44c31ae7_0_627" title="noun-license-7922784.png"/>
          <p:cNvPicPr preferRelativeResize="0"/>
          <p:nvPr/>
        </p:nvPicPr>
        <p:blipFill rotWithShape="1">
          <a:blip r:embed="rId4">
            <a:alphaModFix/>
          </a:blip>
          <a:srcRect b="17232" l="0" r="0" t="0"/>
          <a:stretch/>
        </p:blipFill>
        <p:spPr>
          <a:xfrm>
            <a:off x="1180625" y="1327775"/>
            <a:ext cx="293526" cy="242951"/>
          </a:xfrm>
          <a:prstGeom prst="rect">
            <a:avLst/>
          </a:prstGeom>
          <a:solidFill>
            <a:srgbClr val="F9CB9C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d44c31ae7_0_779"/>
          <p:cNvSpPr txBox="1"/>
          <p:nvPr/>
        </p:nvSpPr>
        <p:spPr>
          <a:xfrm>
            <a:off x="3579143" y="1108538"/>
            <a:ext cx="37242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Complaints Management</a:t>
            </a:r>
            <a:endParaRPr sz="1100"/>
          </a:p>
        </p:txBody>
      </p:sp>
      <p:grpSp>
        <p:nvGrpSpPr>
          <p:cNvPr id="211" name="Google Shape;211;g3dd44c31ae7_0_779"/>
          <p:cNvGrpSpPr/>
          <p:nvPr/>
        </p:nvGrpSpPr>
        <p:grpSpPr>
          <a:xfrm>
            <a:off x="3594249" y="3251489"/>
            <a:ext cx="1775701" cy="1364433"/>
            <a:chOff x="5058522" y="4130040"/>
            <a:chExt cx="2793300" cy="1667400"/>
          </a:xfrm>
        </p:grpSpPr>
        <p:sp>
          <p:nvSpPr>
            <p:cNvPr id="212" name="Google Shape;212;g3dd44c31ae7_0_779"/>
            <p:cNvSpPr/>
            <p:nvPr/>
          </p:nvSpPr>
          <p:spPr>
            <a:xfrm>
              <a:off x="5058522" y="4130040"/>
              <a:ext cx="2793300" cy="1564500"/>
            </a:xfrm>
            <a:prstGeom prst="roundRect">
              <a:avLst>
                <a:gd fmla="val 2200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762000" sx="90000" rotWithShape="0" algn="tl" dir="2700000" dist="533400" sy="90000">
                <a:srgbClr val="000000">
                  <a:alpha val="9800"/>
                </a:srgbClr>
              </a:outerShdw>
            </a:effectLst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213" name="Google Shape;213;g3dd44c31ae7_0_779"/>
            <p:cNvGrpSpPr/>
            <p:nvPr/>
          </p:nvGrpSpPr>
          <p:grpSpPr>
            <a:xfrm>
              <a:off x="5278730" y="4316933"/>
              <a:ext cx="2359228" cy="1480506"/>
              <a:chOff x="5278730" y="4315160"/>
              <a:chExt cx="2359228" cy="1480506"/>
            </a:xfrm>
          </p:grpSpPr>
          <p:sp>
            <p:nvSpPr>
              <p:cNvPr id="214" name="Google Shape;214;g3dd44c31ae7_0_779"/>
              <p:cNvSpPr txBox="1"/>
              <p:nvPr/>
            </p:nvSpPr>
            <p:spPr>
              <a:xfrm>
                <a:off x="5278730" y="4315160"/>
                <a:ext cx="2352900" cy="23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6852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Improve Citizen Trust</a:t>
                </a:r>
                <a:endParaRPr b="1" sz="1000">
                  <a:solidFill>
                    <a:srgbClr val="F6852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15" name="Google Shape;215;g3dd44c31ae7_0_779"/>
              <p:cNvSpPr txBox="1"/>
              <p:nvPr/>
            </p:nvSpPr>
            <p:spPr>
              <a:xfrm>
                <a:off x="5363359" y="4582467"/>
                <a:ext cx="2274600" cy="121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262626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- File issues anytime, anywhere</a:t>
                </a:r>
                <a:endParaRPr sz="8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262626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- Get proactively notified on status</a:t>
                </a:r>
                <a:endParaRPr sz="8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262626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- Accessible by all</a:t>
                </a:r>
                <a:endParaRPr sz="8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216" name="Google Shape;216;g3dd44c31ae7_0_779"/>
          <p:cNvSpPr/>
          <p:nvPr/>
        </p:nvSpPr>
        <p:spPr>
          <a:xfrm>
            <a:off x="5611900" y="2353050"/>
            <a:ext cx="1383000" cy="270300"/>
          </a:xfrm>
          <a:prstGeom prst="roundRect">
            <a:avLst>
              <a:gd fmla="val 50000" name="adj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Incident Management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17" name="Google Shape;217;g3dd44c31ae7_0_779"/>
          <p:cNvSpPr/>
          <p:nvPr/>
        </p:nvSpPr>
        <p:spPr>
          <a:xfrm>
            <a:off x="3731550" y="2353050"/>
            <a:ext cx="1775700" cy="270300"/>
          </a:xfrm>
          <a:prstGeom prst="roundRect">
            <a:avLst>
              <a:gd fmla="val 50000" name="adj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Public Grievance Redressal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18" name="Google Shape;218;g3dd44c31ae7_0_779"/>
          <p:cNvSpPr/>
          <p:nvPr/>
        </p:nvSpPr>
        <p:spPr>
          <a:xfrm>
            <a:off x="7157975" y="2353050"/>
            <a:ext cx="1238400" cy="270300"/>
          </a:xfrm>
          <a:prstGeom prst="roundRect">
            <a:avLst>
              <a:gd fmla="val 50000" name="adj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Case Management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19" name="Google Shape;219;g3dd44c31ae7_0_779"/>
          <p:cNvSpPr/>
          <p:nvPr/>
        </p:nvSpPr>
        <p:spPr>
          <a:xfrm>
            <a:off x="3731550" y="2725300"/>
            <a:ext cx="2146800" cy="270300"/>
          </a:xfrm>
          <a:prstGeom prst="roundRect">
            <a:avLst>
              <a:gd fmla="val 50000" name="adj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Call Centre and IVRS Management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20" name="Google Shape;220;g3dd44c31ae7_0_779"/>
          <p:cNvSpPr/>
          <p:nvPr/>
        </p:nvSpPr>
        <p:spPr>
          <a:xfrm>
            <a:off x="5940225" y="2762200"/>
            <a:ext cx="2146800" cy="270300"/>
          </a:xfrm>
          <a:prstGeom prst="roundRect">
            <a:avLst>
              <a:gd fmla="val 50000" name="adj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Emergency and Disaster Response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21" name="Google Shape;221;g3dd44c31ae7_0_779"/>
          <p:cNvSpPr/>
          <p:nvPr/>
        </p:nvSpPr>
        <p:spPr>
          <a:xfrm>
            <a:off x="8148900" y="2762200"/>
            <a:ext cx="909600" cy="270300"/>
          </a:xfrm>
          <a:prstGeom prst="roundRect">
            <a:avLst>
              <a:gd fmla="val 50000" name="adj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And more….</a:t>
            </a:r>
            <a:endParaRPr sz="900">
              <a:solidFill>
                <a:schemeClr val="dk1"/>
              </a:solidFill>
            </a:endParaRPr>
          </a:p>
        </p:txBody>
      </p:sp>
      <p:grpSp>
        <p:nvGrpSpPr>
          <p:cNvPr id="222" name="Google Shape;222;g3dd44c31ae7_0_779"/>
          <p:cNvGrpSpPr/>
          <p:nvPr/>
        </p:nvGrpSpPr>
        <p:grpSpPr>
          <a:xfrm>
            <a:off x="5453349" y="3251489"/>
            <a:ext cx="1775701" cy="1280230"/>
            <a:chOff x="5058522" y="4130040"/>
            <a:chExt cx="2793300" cy="1564500"/>
          </a:xfrm>
        </p:grpSpPr>
        <p:sp>
          <p:nvSpPr>
            <p:cNvPr id="223" name="Google Shape;223;g3dd44c31ae7_0_779"/>
            <p:cNvSpPr/>
            <p:nvPr/>
          </p:nvSpPr>
          <p:spPr>
            <a:xfrm>
              <a:off x="5058522" y="4130040"/>
              <a:ext cx="2793300" cy="1564500"/>
            </a:xfrm>
            <a:prstGeom prst="roundRect">
              <a:avLst>
                <a:gd fmla="val 2200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762000" sx="90000" rotWithShape="0" algn="tl" dir="2700000" dist="533400" sy="90000">
                <a:srgbClr val="000000">
                  <a:alpha val="9800"/>
                </a:srgbClr>
              </a:outerShdw>
            </a:effectLst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224" name="Google Shape;224;g3dd44c31ae7_0_779"/>
            <p:cNvGrpSpPr/>
            <p:nvPr/>
          </p:nvGrpSpPr>
          <p:grpSpPr>
            <a:xfrm>
              <a:off x="5278730" y="4316933"/>
              <a:ext cx="2352900" cy="1286911"/>
              <a:chOff x="5278730" y="4315160"/>
              <a:chExt cx="2352900" cy="1286911"/>
            </a:xfrm>
          </p:grpSpPr>
          <p:sp>
            <p:nvSpPr>
              <p:cNvPr id="225" name="Google Shape;225;g3dd44c31ae7_0_779"/>
              <p:cNvSpPr txBox="1"/>
              <p:nvPr/>
            </p:nvSpPr>
            <p:spPr>
              <a:xfrm>
                <a:off x="5278730" y="4315160"/>
                <a:ext cx="2352900" cy="38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6852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Increase Employee Efficiency</a:t>
                </a:r>
                <a:endParaRPr b="1" sz="1000">
                  <a:solidFill>
                    <a:srgbClr val="F6852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26" name="Google Shape;226;g3dd44c31ae7_0_779"/>
              <p:cNvSpPr txBox="1"/>
              <p:nvPr/>
            </p:nvSpPr>
            <p:spPr>
              <a:xfrm>
                <a:off x="5357027" y="4780071"/>
                <a:ext cx="2274600" cy="82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262626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- </a:t>
                </a:r>
                <a:r>
                  <a:rPr lang="en" sz="800">
                    <a:solidFill>
                      <a:srgbClr val="262626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Clarity on the tasks and issues to be prioritised</a:t>
                </a:r>
                <a:endParaRPr sz="8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262626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- Digital system to provide proof of work</a:t>
                </a:r>
                <a:endParaRPr sz="8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227" name="Google Shape;227;g3dd44c31ae7_0_779"/>
          <p:cNvGrpSpPr/>
          <p:nvPr/>
        </p:nvGrpSpPr>
        <p:grpSpPr>
          <a:xfrm>
            <a:off x="7312554" y="3251514"/>
            <a:ext cx="1622907" cy="1280230"/>
            <a:chOff x="5058522" y="4130040"/>
            <a:chExt cx="2793300" cy="1564500"/>
          </a:xfrm>
        </p:grpSpPr>
        <p:sp>
          <p:nvSpPr>
            <p:cNvPr id="228" name="Google Shape;228;g3dd44c31ae7_0_779"/>
            <p:cNvSpPr/>
            <p:nvPr/>
          </p:nvSpPr>
          <p:spPr>
            <a:xfrm>
              <a:off x="5058522" y="4130040"/>
              <a:ext cx="2793300" cy="1564500"/>
            </a:xfrm>
            <a:prstGeom prst="roundRect">
              <a:avLst>
                <a:gd fmla="val 2200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762000" sx="90000" rotWithShape="0" algn="tl" dir="2700000" dist="533400" sy="90000">
                <a:srgbClr val="000000">
                  <a:alpha val="9800"/>
                </a:srgbClr>
              </a:outerShdw>
            </a:effectLst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229" name="Google Shape;229;g3dd44c31ae7_0_779"/>
            <p:cNvGrpSpPr/>
            <p:nvPr/>
          </p:nvGrpSpPr>
          <p:grpSpPr>
            <a:xfrm>
              <a:off x="5278730" y="4316933"/>
              <a:ext cx="2352900" cy="1296322"/>
              <a:chOff x="5278730" y="4315160"/>
              <a:chExt cx="2352900" cy="1296322"/>
            </a:xfrm>
          </p:grpSpPr>
          <p:sp>
            <p:nvSpPr>
              <p:cNvPr id="230" name="Google Shape;230;g3dd44c31ae7_0_779"/>
              <p:cNvSpPr txBox="1"/>
              <p:nvPr/>
            </p:nvSpPr>
            <p:spPr>
              <a:xfrm>
                <a:off x="5278730" y="4315160"/>
                <a:ext cx="2352900" cy="38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6852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Enhance Governance</a:t>
                </a:r>
                <a:endParaRPr b="1" sz="1000">
                  <a:solidFill>
                    <a:srgbClr val="F6852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31" name="Google Shape;231;g3dd44c31ae7_0_779"/>
              <p:cNvSpPr txBox="1"/>
              <p:nvPr/>
            </p:nvSpPr>
            <p:spPr>
              <a:xfrm>
                <a:off x="5317877" y="4789482"/>
                <a:ext cx="2274600" cy="82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262626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- Access to </a:t>
                </a:r>
                <a:r>
                  <a:rPr lang="en" sz="800">
                    <a:solidFill>
                      <a:srgbClr val="262626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 Real time data </a:t>
                </a:r>
                <a:endParaRPr sz="8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262626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- Easy view into recurring problem areas</a:t>
                </a:r>
                <a:endParaRPr sz="8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pic>
        <p:nvPicPr>
          <p:cNvPr id="232" name="Google Shape;232;g3dd44c31ae7_0_7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850815"/>
            <a:ext cx="4005076" cy="344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dd44c31ae7_0_779"/>
          <p:cNvSpPr/>
          <p:nvPr/>
        </p:nvSpPr>
        <p:spPr>
          <a:xfrm rot="-2053837">
            <a:off x="-704800" y="415104"/>
            <a:ext cx="2972133" cy="489686"/>
          </a:xfrm>
          <a:prstGeom prst="rect">
            <a:avLst/>
          </a:prstGeom>
          <a:solidFill>
            <a:srgbClr val="273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Product Offering 1</a:t>
            </a:r>
            <a:endParaRPr b="1" sz="11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d44c31ae7_0_712"/>
          <p:cNvSpPr txBox="1"/>
          <p:nvPr/>
        </p:nvSpPr>
        <p:spPr>
          <a:xfrm>
            <a:off x="632632" y="1230795"/>
            <a:ext cx="38097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License and Permits</a:t>
            </a:r>
            <a:endParaRPr sz="1100"/>
          </a:p>
        </p:txBody>
      </p:sp>
      <p:pic>
        <p:nvPicPr>
          <p:cNvPr id="240" name="Google Shape;240;g3dd44c31ae7_0_7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6601" y="763061"/>
            <a:ext cx="3617400" cy="3617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dd44c31ae7_0_712"/>
          <p:cNvSpPr/>
          <p:nvPr/>
        </p:nvSpPr>
        <p:spPr>
          <a:xfrm>
            <a:off x="1983079" y="2321650"/>
            <a:ext cx="1108800" cy="270300"/>
          </a:xfrm>
          <a:prstGeom prst="roundRect">
            <a:avLst>
              <a:gd fmla="val 50000" name="adj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Building Permits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42" name="Google Shape;242;g3dd44c31ae7_0_712"/>
          <p:cNvSpPr/>
          <p:nvPr/>
        </p:nvSpPr>
        <p:spPr>
          <a:xfrm>
            <a:off x="618004" y="2316150"/>
            <a:ext cx="1269600" cy="270300"/>
          </a:xfrm>
          <a:prstGeom prst="roundRect">
            <a:avLst>
              <a:gd fmla="val 50000" name="adj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Business License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43" name="Google Shape;243;g3dd44c31ae7_0_712"/>
          <p:cNvSpPr/>
          <p:nvPr/>
        </p:nvSpPr>
        <p:spPr>
          <a:xfrm>
            <a:off x="3187354" y="2321663"/>
            <a:ext cx="816900" cy="270300"/>
          </a:xfrm>
          <a:prstGeom prst="roundRect">
            <a:avLst>
              <a:gd fmla="val 50000" name="adj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Fire Safety (NOC)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44" name="Google Shape;244;g3dd44c31ae7_0_712"/>
          <p:cNvSpPr/>
          <p:nvPr/>
        </p:nvSpPr>
        <p:spPr>
          <a:xfrm>
            <a:off x="618004" y="2688400"/>
            <a:ext cx="1443300" cy="270300"/>
          </a:xfrm>
          <a:prstGeom prst="roundRect">
            <a:avLst>
              <a:gd fmla="val 50000" name="adj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Road Digging Permits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45" name="Google Shape;245;g3dd44c31ae7_0_712"/>
          <p:cNvSpPr/>
          <p:nvPr/>
        </p:nvSpPr>
        <p:spPr>
          <a:xfrm>
            <a:off x="2124004" y="2688400"/>
            <a:ext cx="1756200" cy="270300"/>
          </a:xfrm>
          <a:prstGeom prst="roundRect">
            <a:avLst>
              <a:gd fmla="val 50000" name="adj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Birth and Death Certificates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46" name="Google Shape;246;g3dd44c31ae7_0_712"/>
          <p:cNvSpPr/>
          <p:nvPr/>
        </p:nvSpPr>
        <p:spPr>
          <a:xfrm>
            <a:off x="3942904" y="2688400"/>
            <a:ext cx="1108800" cy="270300"/>
          </a:xfrm>
          <a:prstGeom prst="roundRect">
            <a:avLst>
              <a:gd fmla="val 50000" name="adj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Zoning Permits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47" name="Google Shape;247;g3dd44c31ae7_0_712"/>
          <p:cNvSpPr/>
          <p:nvPr/>
        </p:nvSpPr>
        <p:spPr>
          <a:xfrm>
            <a:off x="4099729" y="2301450"/>
            <a:ext cx="909600" cy="270300"/>
          </a:xfrm>
          <a:prstGeom prst="roundRect">
            <a:avLst>
              <a:gd fmla="val 50000" name="adj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And more….</a:t>
            </a:r>
            <a:endParaRPr sz="900">
              <a:solidFill>
                <a:schemeClr val="dk1"/>
              </a:solidFill>
            </a:endParaRPr>
          </a:p>
        </p:txBody>
      </p:sp>
      <p:grpSp>
        <p:nvGrpSpPr>
          <p:cNvPr id="248" name="Google Shape;248;g3dd44c31ae7_0_712"/>
          <p:cNvGrpSpPr/>
          <p:nvPr/>
        </p:nvGrpSpPr>
        <p:grpSpPr>
          <a:xfrm>
            <a:off x="516506" y="3259338"/>
            <a:ext cx="1775701" cy="1960057"/>
            <a:chOff x="5058522" y="4130040"/>
            <a:chExt cx="2793300" cy="1827900"/>
          </a:xfrm>
        </p:grpSpPr>
        <p:sp>
          <p:nvSpPr>
            <p:cNvPr id="249" name="Google Shape;249;g3dd44c31ae7_0_712"/>
            <p:cNvSpPr/>
            <p:nvPr/>
          </p:nvSpPr>
          <p:spPr>
            <a:xfrm>
              <a:off x="5058522" y="4130040"/>
              <a:ext cx="2793300" cy="1564500"/>
            </a:xfrm>
            <a:prstGeom prst="roundRect">
              <a:avLst>
                <a:gd fmla="val 2200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762000" sx="90000" rotWithShape="0" algn="tl" dir="2700000" dist="533400" sy="90000">
                <a:srgbClr val="000000">
                  <a:alpha val="9800"/>
                </a:srgbClr>
              </a:outerShdw>
            </a:effectLst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250" name="Google Shape;250;g3dd44c31ae7_0_712"/>
            <p:cNvGrpSpPr/>
            <p:nvPr/>
          </p:nvGrpSpPr>
          <p:grpSpPr>
            <a:xfrm>
              <a:off x="5278730" y="4316933"/>
              <a:ext cx="2359228" cy="1641006"/>
              <a:chOff x="5278730" y="4315160"/>
              <a:chExt cx="2359228" cy="1641006"/>
            </a:xfrm>
          </p:grpSpPr>
          <p:sp>
            <p:nvSpPr>
              <p:cNvPr id="251" name="Google Shape;251;g3dd44c31ae7_0_712"/>
              <p:cNvSpPr txBox="1"/>
              <p:nvPr/>
            </p:nvSpPr>
            <p:spPr>
              <a:xfrm>
                <a:off x="5278730" y="4315160"/>
                <a:ext cx="2352900" cy="1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6852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Improve Efficiency</a:t>
                </a:r>
                <a:endParaRPr b="1" sz="1000">
                  <a:solidFill>
                    <a:srgbClr val="F6852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52" name="Google Shape;252;g3dd44c31ae7_0_712"/>
              <p:cNvSpPr txBox="1"/>
              <p:nvPr/>
            </p:nvSpPr>
            <p:spPr>
              <a:xfrm>
                <a:off x="5363359" y="4582467"/>
                <a:ext cx="2274600" cy="137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262626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- Keep a chain of custody from application to </a:t>
                </a:r>
                <a:r>
                  <a:rPr lang="en" sz="800">
                    <a:solidFill>
                      <a:srgbClr val="262626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issuance</a:t>
                </a:r>
                <a:endParaRPr sz="8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262626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-Automated of common process steps such as fee calculation, issuance of certificates etc</a:t>
                </a:r>
                <a:endParaRPr sz="8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253" name="Google Shape;253;g3dd44c31ae7_0_712"/>
          <p:cNvGrpSpPr/>
          <p:nvPr/>
        </p:nvGrpSpPr>
        <p:grpSpPr>
          <a:xfrm>
            <a:off x="2375604" y="3259303"/>
            <a:ext cx="1775701" cy="1677679"/>
            <a:chOff x="5058524" y="4130057"/>
            <a:chExt cx="2793300" cy="2050200"/>
          </a:xfrm>
        </p:grpSpPr>
        <p:sp>
          <p:nvSpPr>
            <p:cNvPr id="254" name="Google Shape;254;g3dd44c31ae7_0_712"/>
            <p:cNvSpPr/>
            <p:nvPr/>
          </p:nvSpPr>
          <p:spPr>
            <a:xfrm>
              <a:off x="5058524" y="4130057"/>
              <a:ext cx="2793300" cy="2050200"/>
            </a:xfrm>
            <a:prstGeom prst="roundRect">
              <a:avLst>
                <a:gd fmla="val 2200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762000" sx="90000" rotWithShape="0" algn="tl" dir="2700000" dist="533400" sy="90000">
                <a:srgbClr val="000000">
                  <a:alpha val="9800"/>
                </a:srgbClr>
              </a:outerShdw>
            </a:effectLst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255" name="Google Shape;255;g3dd44c31ae7_0_712"/>
            <p:cNvGrpSpPr/>
            <p:nvPr/>
          </p:nvGrpSpPr>
          <p:grpSpPr>
            <a:xfrm>
              <a:off x="5278730" y="4316933"/>
              <a:ext cx="2352900" cy="1678111"/>
              <a:chOff x="5278730" y="4315160"/>
              <a:chExt cx="2352900" cy="1678111"/>
            </a:xfrm>
          </p:grpSpPr>
          <p:sp>
            <p:nvSpPr>
              <p:cNvPr id="256" name="Google Shape;256;g3dd44c31ae7_0_712"/>
              <p:cNvSpPr txBox="1"/>
              <p:nvPr/>
            </p:nvSpPr>
            <p:spPr>
              <a:xfrm>
                <a:off x="5278730" y="4315160"/>
                <a:ext cx="2352900" cy="23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6852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Increase Revenue</a:t>
                </a:r>
                <a:endParaRPr b="1" sz="1000">
                  <a:solidFill>
                    <a:srgbClr val="F6852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57" name="Google Shape;257;g3dd44c31ae7_0_712"/>
              <p:cNvSpPr txBox="1"/>
              <p:nvPr/>
            </p:nvSpPr>
            <p:spPr>
              <a:xfrm>
                <a:off x="5357027" y="4780071"/>
                <a:ext cx="2274600" cy="121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262626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- Improve ease of applications and processing, reducing non compliance</a:t>
                </a:r>
                <a:endParaRPr sz="8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262626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- Track revenwals and non payments</a:t>
                </a:r>
                <a:endParaRPr sz="8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258" name="Google Shape;258;g3dd44c31ae7_0_712"/>
          <p:cNvGrpSpPr/>
          <p:nvPr/>
        </p:nvGrpSpPr>
        <p:grpSpPr>
          <a:xfrm>
            <a:off x="4234817" y="3259165"/>
            <a:ext cx="1622907" cy="1677613"/>
            <a:chOff x="5058522" y="4130040"/>
            <a:chExt cx="2793300" cy="1564500"/>
          </a:xfrm>
        </p:grpSpPr>
        <p:sp>
          <p:nvSpPr>
            <p:cNvPr id="259" name="Google Shape;259;g3dd44c31ae7_0_712"/>
            <p:cNvSpPr/>
            <p:nvPr/>
          </p:nvSpPr>
          <p:spPr>
            <a:xfrm>
              <a:off x="5058522" y="4130040"/>
              <a:ext cx="2793300" cy="1564500"/>
            </a:xfrm>
            <a:prstGeom prst="roundRect">
              <a:avLst>
                <a:gd fmla="val 2200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762000" sx="90000" rotWithShape="0" algn="tl" dir="2700000" dist="533400" sy="90000">
                <a:srgbClr val="000000">
                  <a:alpha val="9800"/>
                </a:srgbClr>
              </a:outerShdw>
            </a:effectLst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260" name="Google Shape;260;g3dd44c31ae7_0_712"/>
            <p:cNvGrpSpPr/>
            <p:nvPr/>
          </p:nvGrpSpPr>
          <p:grpSpPr>
            <a:xfrm>
              <a:off x="5278730" y="4316933"/>
              <a:ext cx="2352900" cy="1101622"/>
              <a:chOff x="5278730" y="4315160"/>
              <a:chExt cx="2352900" cy="1101622"/>
            </a:xfrm>
          </p:grpSpPr>
          <p:sp>
            <p:nvSpPr>
              <p:cNvPr id="261" name="Google Shape;261;g3dd44c31ae7_0_712"/>
              <p:cNvSpPr txBox="1"/>
              <p:nvPr/>
            </p:nvSpPr>
            <p:spPr>
              <a:xfrm>
                <a:off x="5278730" y="4315160"/>
                <a:ext cx="2352900" cy="29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6852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Improve Trust in Certificates</a:t>
                </a:r>
                <a:endParaRPr b="1" sz="1000">
                  <a:solidFill>
                    <a:srgbClr val="F6852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62" name="Google Shape;262;g3dd44c31ae7_0_712"/>
              <p:cNvSpPr txBox="1"/>
              <p:nvPr/>
            </p:nvSpPr>
            <p:spPr>
              <a:xfrm>
                <a:off x="5317877" y="4789482"/>
                <a:ext cx="2274600" cy="62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262626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- Powered by Verifiable Credentials, allowing the ecosystem to verify authenticity</a:t>
                </a:r>
                <a:endParaRPr sz="8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sp>
        <p:nvSpPr>
          <p:cNvPr id="263" name="Google Shape;263;g3dd44c31ae7_0_712"/>
          <p:cNvSpPr/>
          <p:nvPr/>
        </p:nvSpPr>
        <p:spPr>
          <a:xfrm rot="-2053837">
            <a:off x="-704800" y="415104"/>
            <a:ext cx="2972133" cy="489686"/>
          </a:xfrm>
          <a:prstGeom prst="rect">
            <a:avLst/>
          </a:prstGeom>
          <a:solidFill>
            <a:srgbClr val="273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Product Offering 2</a:t>
            </a:r>
            <a:endParaRPr b="1" sz="11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8" name="Google Shape;268;p4"/>
          <p:cNvCxnSpPr>
            <a:stCxn id="269" idx="6"/>
            <a:endCxn id="270" idx="0"/>
          </p:cNvCxnSpPr>
          <p:nvPr/>
        </p:nvCxnSpPr>
        <p:spPr>
          <a:xfrm>
            <a:off x="6986001" y="3060746"/>
            <a:ext cx="583500" cy="879300"/>
          </a:xfrm>
          <a:prstGeom prst="bentConnector2">
            <a:avLst/>
          </a:pr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4"/>
          <p:cNvCxnSpPr>
            <a:stCxn id="272" idx="0"/>
            <a:endCxn id="273" idx="2"/>
          </p:cNvCxnSpPr>
          <p:nvPr/>
        </p:nvCxnSpPr>
        <p:spPr>
          <a:xfrm rot="-5400000">
            <a:off x="6442411" y="1862207"/>
            <a:ext cx="799200" cy="1455000"/>
          </a:xfrm>
          <a:prstGeom prst="bentConnector3">
            <a:avLst>
              <a:gd fmla="val 50000" name="adj1"/>
            </a:avLst>
          </a:pr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4"/>
          <p:cNvCxnSpPr>
            <a:stCxn id="275" idx="4"/>
            <a:endCxn id="276" idx="0"/>
          </p:cNvCxnSpPr>
          <p:nvPr/>
        </p:nvCxnSpPr>
        <p:spPr>
          <a:xfrm rot="5400000">
            <a:off x="4674409" y="3469418"/>
            <a:ext cx="536400" cy="743700"/>
          </a:xfrm>
          <a:prstGeom prst="bentConnector3">
            <a:avLst>
              <a:gd fmla="val 49997" name="adj1"/>
            </a:avLst>
          </a:pr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4"/>
          <p:cNvCxnSpPr>
            <a:stCxn id="278" idx="4"/>
            <a:endCxn id="279" idx="0"/>
          </p:cNvCxnSpPr>
          <p:nvPr/>
        </p:nvCxnSpPr>
        <p:spPr>
          <a:xfrm rot="5400000">
            <a:off x="2147003" y="2557500"/>
            <a:ext cx="992700" cy="2142000"/>
          </a:xfrm>
          <a:prstGeom prst="bentConnector3">
            <a:avLst>
              <a:gd fmla="val 49999" name="adj1"/>
            </a:avLst>
          </a:pr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4"/>
          <p:cNvCxnSpPr>
            <a:stCxn id="281" idx="0"/>
            <a:endCxn id="282" idx="2"/>
          </p:cNvCxnSpPr>
          <p:nvPr/>
        </p:nvCxnSpPr>
        <p:spPr>
          <a:xfrm flipH="1" rot="5400000">
            <a:off x="1874904" y="1887436"/>
            <a:ext cx="798600" cy="1404000"/>
          </a:xfrm>
          <a:prstGeom prst="bentConnector3">
            <a:avLst>
              <a:gd fmla="val 50007" name="adj1"/>
            </a:avLst>
          </a:pr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4"/>
          <p:cNvCxnSpPr>
            <a:stCxn id="284" idx="0"/>
            <a:endCxn id="285" idx="2"/>
          </p:cNvCxnSpPr>
          <p:nvPr/>
        </p:nvCxnSpPr>
        <p:spPr>
          <a:xfrm rot="10800000">
            <a:off x="4571377" y="2020664"/>
            <a:ext cx="0" cy="7797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4"/>
          <p:cNvSpPr txBox="1"/>
          <p:nvPr>
            <p:ph type="title"/>
          </p:nvPr>
        </p:nvSpPr>
        <p:spPr>
          <a:xfrm>
            <a:off x="325500" y="276925"/>
            <a:ext cx="83778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1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Revenue streams you unlock as a hosting partner</a:t>
            </a:r>
            <a:endParaRPr sz="2520">
              <a:solidFill>
                <a:srgbClr val="F68521"/>
              </a:solidFill>
            </a:endParaRPr>
          </a:p>
        </p:txBody>
      </p:sp>
      <p:sp>
        <p:nvSpPr>
          <p:cNvPr id="285" name="Google Shape;285;p4"/>
          <p:cNvSpPr/>
          <p:nvPr/>
        </p:nvSpPr>
        <p:spPr>
          <a:xfrm>
            <a:off x="3410530" y="1397495"/>
            <a:ext cx="2321692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68521"/>
                </a:solidFill>
                <a:latin typeface="DM Sans"/>
                <a:ea typeface="DM Sans"/>
                <a:cs typeface="DM Sans"/>
                <a:sym typeface="DM Sans"/>
              </a:rPr>
              <a:t>Support &amp; maintenance </a:t>
            </a:r>
            <a:endParaRPr b="1" sz="1200">
              <a:solidFill>
                <a:srgbClr val="FAB4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Ongoing managed services contract per instance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"/>
          <p:cNvSpPr/>
          <p:nvPr/>
        </p:nvSpPr>
        <p:spPr>
          <a:xfrm>
            <a:off x="6408543" y="1397495"/>
            <a:ext cx="2321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68521"/>
                </a:solidFill>
                <a:latin typeface="DM Sans"/>
                <a:ea typeface="DM Sans"/>
                <a:cs typeface="DM Sans"/>
                <a:sym typeface="DM Sans"/>
              </a:rPr>
              <a:t>Infrastructure migration</a:t>
            </a:r>
            <a:r>
              <a:rPr b="1" lang="en" sz="1200">
                <a:solidFill>
                  <a:srgbClr val="FAB48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Governments 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cale and want to move to their own infra, you deliver and charge for the migration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2" name="Google Shape;282;p4"/>
          <p:cNvSpPr/>
          <p:nvPr/>
        </p:nvSpPr>
        <p:spPr>
          <a:xfrm>
            <a:off x="411480" y="1397495"/>
            <a:ext cx="2321692" cy="7925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68521"/>
                </a:solidFill>
                <a:latin typeface="DM Sans"/>
                <a:ea typeface="DM Sans"/>
                <a:cs typeface="DM Sans"/>
                <a:sym typeface="DM Sans"/>
              </a:rPr>
              <a:t>SaaS licensing margin</a:t>
            </a:r>
            <a:r>
              <a:rPr i="0" lang="en" sz="1200" u="none" cap="none" strike="noStrike">
                <a:solidFill>
                  <a:srgbClr val="F6852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i="0" sz="1200" u="none" cap="none" strike="noStrike">
              <a:solidFill>
                <a:srgbClr val="F6852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Recurring subscription revenue per government client/department onboarded</a:t>
            </a:r>
            <a:endParaRPr i="0" sz="1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4"/>
          <p:cNvSpPr/>
          <p:nvPr/>
        </p:nvSpPr>
        <p:spPr>
          <a:xfrm>
            <a:off x="3410012" y="4109432"/>
            <a:ext cx="2321692" cy="6232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68521"/>
                </a:solidFill>
                <a:latin typeface="DM Sans"/>
                <a:ea typeface="DM Sans"/>
                <a:cs typeface="DM Sans"/>
                <a:sym typeface="DM Sans"/>
              </a:rPr>
              <a:t>Training </a:t>
            </a:r>
            <a:r>
              <a:rPr b="1" lang="en" sz="12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 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Government staff training per deployment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"/>
          <p:cNvSpPr/>
          <p:nvPr/>
        </p:nvSpPr>
        <p:spPr>
          <a:xfrm>
            <a:off x="6408543" y="3940155"/>
            <a:ext cx="2321692" cy="7925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68521"/>
                </a:solidFill>
                <a:latin typeface="DM Sans"/>
                <a:ea typeface="DM Sans"/>
                <a:cs typeface="DM Sans"/>
                <a:sym typeface="DM Sans"/>
              </a:rPr>
              <a:t>Plugins &amp; extensions </a:t>
            </a:r>
            <a:br>
              <a:rPr b="1" lang="en" sz="12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Standardized extensions built once, reused and charged across multiple SaaS instances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"/>
          <p:cNvSpPr/>
          <p:nvPr/>
        </p:nvSpPr>
        <p:spPr>
          <a:xfrm>
            <a:off x="411480" y="4124821"/>
            <a:ext cx="2321692" cy="60785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200">
                <a:solidFill>
                  <a:srgbClr val="F68521"/>
                </a:solidFill>
                <a:latin typeface="DM Sans"/>
                <a:ea typeface="DM Sans"/>
                <a:cs typeface="DM Sans"/>
                <a:sym typeface="DM Sans"/>
              </a:rPr>
              <a:t>Configuration services  </a:t>
            </a:r>
            <a:r>
              <a:rPr b="1" lang="en" sz="1200">
                <a:solidFill>
                  <a:srgbClr val="FAB48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Each new ministry onboarding requires setup; this is a billable engagement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"/>
          <p:cNvSpPr/>
          <p:nvPr/>
        </p:nvSpPr>
        <p:spPr>
          <a:xfrm rot="5400000">
            <a:off x="1945436" y="2744561"/>
            <a:ext cx="395747" cy="632373"/>
          </a:xfrm>
          <a:custGeom>
            <a:rect b="b" l="l" r="r" t="t"/>
            <a:pathLst>
              <a:path extrusionOk="0" h="1487689" w="931015">
                <a:moveTo>
                  <a:pt x="833316" y="-248"/>
                </a:moveTo>
                <a:cubicBezTo>
                  <a:pt x="849286" y="231089"/>
                  <a:pt x="784676" y="542742"/>
                  <a:pt x="466264" y="870034"/>
                </a:cubicBezTo>
                <a:cubicBezTo>
                  <a:pt x="147786" y="542742"/>
                  <a:pt x="83176" y="231089"/>
                  <a:pt x="99146" y="-248"/>
                </a:cubicBezTo>
                <a:cubicBezTo>
                  <a:pt x="-2838" y="230758"/>
                  <a:pt x="-169168" y="834714"/>
                  <a:pt x="466264" y="1487442"/>
                </a:cubicBezTo>
                <a:cubicBezTo>
                  <a:pt x="1101696" y="834382"/>
                  <a:pt x="935300" y="230758"/>
                  <a:pt x="833316" y="-2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"/>
          <p:cNvSpPr/>
          <p:nvPr/>
        </p:nvSpPr>
        <p:spPr>
          <a:xfrm rot="5400000">
            <a:off x="2250757" y="2931266"/>
            <a:ext cx="200022" cy="258864"/>
          </a:xfrm>
          <a:custGeom>
            <a:rect b="b" l="l" r="r" t="t"/>
            <a:pathLst>
              <a:path extrusionOk="0" h="608991" w="470561">
                <a:moveTo>
                  <a:pt x="421564" y="-248"/>
                </a:moveTo>
                <a:cubicBezTo>
                  <a:pt x="429648" y="94514"/>
                  <a:pt x="397045" y="222011"/>
                  <a:pt x="236017" y="356002"/>
                </a:cubicBezTo>
                <a:cubicBezTo>
                  <a:pt x="75055" y="222011"/>
                  <a:pt x="42452" y="94514"/>
                  <a:pt x="50470" y="-248"/>
                </a:cubicBezTo>
                <a:cubicBezTo>
                  <a:pt x="-1086" y="94315"/>
                  <a:pt x="-85112" y="341424"/>
                  <a:pt x="236017" y="608744"/>
                </a:cubicBezTo>
                <a:cubicBezTo>
                  <a:pt x="557146" y="341689"/>
                  <a:pt x="473119" y="94315"/>
                  <a:pt x="421564" y="-2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"/>
          <p:cNvSpPr/>
          <p:nvPr/>
        </p:nvSpPr>
        <p:spPr>
          <a:xfrm rot="5630024">
            <a:off x="2407294" y="3323175"/>
            <a:ext cx="393980" cy="675819"/>
          </a:xfrm>
          <a:custGeom>
            <a:rect b="b" l="l" r="r" t="t"/>
            <a:pathLst>
              <a:path extrusionOk="0" h="1216415" w="709128">
                <a:moveTo>
                  <a:pt x="736" y="808804"/>
                </a:moveTo>
                <a:cubicBezTo>
                  <a:pt x="736" y="808804"/>
                  <a:pt x="202054" y="425318"/>
                  <a:pt x="247116" y="-248"/>
                </a:cubicBezTo>
                <a:lnTo>
                  <a:pt x="326967" y="-248"/>
                </a:lnTo>
                <a:cubicBezTo>
                  <a:pt x="359233" y="-148"/>
                  <a:pt x="387588" y="21150"/>
                  <a:pt x="396680" y="52103"/>
                </a:cubicBezTo>
                <a:lnTo>
                  <a:pt x="707206" y="1123836"/>
                </a:lnTo>
                <a:cubicBezTo>
                  <a:pt x="717941" y="1162635"/>
                  <a:pt x="695192" y="1202793"/>
                  <a:pt x="656393" y="1213528"/>
                </a:cubicBezTo>
                <a:cubicBezTo>
                  <a:pt x="636367" y="1219068"/>
                  <a:pt x="614930" y="1215801"/>
                  <a:pt x="597468" y="1204549"/>
                </a:cubicBezTo>
                <a:close/>
              </a:path>
            </a:pathLst>
          </a:custGeom>
          <a:solidFill>
            <a:srgbClr val="D1D0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"/>
          <p:cNvSpPr/>
          <p:nvPr/>
        </p:nvSpPr>
        <p:spPr>
          <a:xfrm flipH="1" rot="5169976">
            <a:off x="2408336" y="2125200"/>
            <a:ext cx="393980" cy="675819"/>
          </a:xfrm>
          <a:custGeom>
            <a:rect b="b" l="l" r="r" t="t"/>
            <a:pathLst>
              <a:path extrusionOk="0" h="1216415" w="709128">
                <a:moveTo>
                  <a:pt x="736" y="808804"/>
                </a:moveTo>
                <a:cubicBezTo>
                  <a:pt x="736" y="808804"/>
                  <a:pt x="202054" y="425318"/>
                  <a:pt x="247116" y="-248"/>
                </a:cubicBezTo>
                <a:lnTo>
                  <a:pt x="326967" y="-248"/>
                </a:lnTo>
                <a:cubicBezTo>
                  <a:pt x="359233" y="-148"/>
                  <a:pt x="387588" y="21150"/>
                  <a:pt x="396680" y="52103"/>
                </a:cubicBezTo>
                <a:lnTo>
                  <a:pt x="707206" y="1123836"/>
                </a:lnTo>
                <a:cubicBezTo>
                  <a:pt x="717941" y="1162635"/>
                  <a:pt x="695192" y="1202793"/>
                  <a:pt x="656393" y="1213528"/>
                </a:cubicBezTo>
                <a:cubicBezTo>
                  <a:pt x="636367" y="1219068"/>
                  <a:pt x="614930" y="1215801"/>
                  <a:pt x="597468" y="1204549"/>
                </a:cubicBezTo>
                <a:close/>
              </a:path>
            </a:pathLst>
          </a:custGeom>
          <a:solidFill>
            <a:srgbClr val="D1D0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"/>
          <p:cNvSpPr/>
          <p:nvPr/>
        </p:nvSpPr>
        <p:spPr>
          <a:xfrm rot="5400000">
            <a:off x="4720557" y="2660735"/>
            <a:ext cx="1187803" cy="800052"/>
          </a:xfrm>
          <a:custGeom>
            <a:rect b="b" l="l" r="r" t="t"/>
            <a:pathLst>
              <a:path extrusionOk="0" h="551814" w="1583737">
                <a:moveTo>
                  <a:pt x="116092" y="0"/>
                </a:moveTo>
                <a:lnTo>
                  <a:pt x="1467605" y="0"/>
                </a:lnTo>
                <a:lnTo>
                  <a:pt x="1482437" y="40510"/>
                </a:lnTo>
                <a:cubicBezTo>
                  <a:pt x="1501557" y="99125"/>
                  <a:pt x="1518752" y="159254"/>
                  <a:pt x="1533547" y="220726"/>
                </a:cubicBezTo>
                <a:lnTo>
                  <a:pt x="1533390" y="220726"/>
                </a:lnTo>
                <a:cubicBezTo>
                  <a:pt x="1549486" y="286666"/>
                  <a:pt x="1562292" y="353322"/>
                  <a:pt x="1571775" y="420448"/>
                </a:cubicBezTo>
                <a:lnTo>
                  <a:pt x="1583737" y="551814"/>
                </a:lnTo>
                <a:lnTo>
                  <a:pt x="0" y="551814"/>
                </a:lnTo>
                <a:lnTo>
                  <a:pt x="12031" y="420448"/>
                </a:lnTo>
                <a:cubicBezTo>
                  <a:pt x="21539" y="353322"/>
                  <a:pt x="34363" y="286666"/>
                  <a:pt x="50467" y="220726"/>
                </a:cubicBezTo>
                <a:cubicBezTo>
                  <a:pt x="61563" y="174622"/>
                  <a:pt x="74012" y="129265"/>
                  <a:pt x="87612" y="84733"/>
                </a:cubicBezTo>
                <a:lnTo>
                  <a:pt x="116092" y="0"/>
                </a:lnTo>
                <a:close/>
              </a:path>
            </a:pathLst>
          </a:custGeom>
          <a:solidFill>
            <a:srgbClr val="47455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"/>
          <p:cNvSpPr/>
          <p:nvPr/>
        </p:nvSpPr>
        <p:spPr>
          <a:xfrm rot="5400000">
            <a:off x="3139863" y="2659869"/>
            <a:ext cx="1148980" cy="800054"/>
          </a:xfrm>
          <a:custGeom>
            <a:rect b="b" l="l" r="r" t="t"/>
            <a:pathLst>
              <a:path extrusionOk="0" h="551815" w="1534152">
                <a:moveTo>
                  <a:pt x="0" y="0"/>
                </a:moveTo>
                <a:lnTo>
                  <a:pt x="1534152" y="0"/>
                </a:lnTo>
                <a:lnTo>
                  <a:pt x="1529776" y="36912"/>
                </a:lnTo>
                <a:cubicBezTo>
                  <a:pt x="1516193" y="121720"/>
                  <a:pt x="1499606" y="204980"/>
                  <a:pt x="1481207" y="285266"/>
                </a:cubicBezTo>
                <a:lnTo>
                  <a:pt x="1442350" y="441451"/>
                </a:lnTo>
                <a:lnTo>
                  <a:pt x="1442351" y="441451"/>
                </a:lnTo>
                <a:lnTo>
                  <a:pt x="1408554" y="551815"/>
                </a:lnTo>
                <a:lnTo>
                  <a:pt x="125929" y="551815"/>
                </a:lnTo>
                <a:lnTo>
                  <a:pt x="92208" y="441453"/>
                </a:lnTo>
                <a:lnTo>
                  <a:pt x="92206" y="441453"/>
                </a:lnTo>
                <a:cubicBezTo>
                  <a:pt x="65164" y="340535"/>
                  <a:pt x="39944" y="232641"/>
                  <a:pt x="19350" y="121151"/>
                </a:cubicBezTo>
                <a:lnTo>
                  <a:pt x="0" y="0"/>
                </a:lnTo>
                <a:close/>
              </a:path>
            </a:pathLst>
          </a:custGeom>
          <a:solidFill>
            <a:srgbClr val="A3A1A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"/>
          <p:cNvSpPr/>
          <p:nvPr/>
        </p:nvSpPr>
        <p:spPr>
          <a:xfrm rot="5400000">
            <a:off x="3915225" y="2660180"/>
            <a:ext cx="1198364" cy="800054"/>
          </a:xfrm>
          <a:custGeom>
            <a:rect b="b" l="l" r="r" t="t"/>
            <a:pathLst>
              <a:path extrusionOk="0" h="551815" w="1599655">
                <a:moveTo>
                  <a:pt x="7978" y="0"/>
                </a:moveTo>
                <a:lnTo>
                  <a:pt x="1591715" y="0"/>
                </a:lnTo>
                <a:lnTo>
                  <a:pt x="1598196" y="71172"/>
                </a:lnTo>
                <a:cubicBezTo>
                  <a:pt x="1601268" y="157841"/>
                  <a:pt x="1599489" y="244617"/>
                  <a:pt x="1592866" y="331090"/>
                </a:cubicBezTo>
                <a:lnTo>
                  <a:pt x="1593022" y="331090"/>
                </a:lnTo>
                <a:lnTo>
                  <a:pt x="1566858" y="551815"/>
                </a:lnTo>
                <a:lnTo>
                  <a:pt x="32706" y="551815"/>
                </a:lnTo>
                <a:lnTo>
                  <a:pt x="24982" y="503457"/>
                </a:lnTo>
                <a:cubicBezTo>
                  <a:pt x="17347" y="446337"/>
                  <a:pt x="11219" y="388741"/>
                  <a:pt x="6947" y="331090"/>
                </a:cubicBezTo>
                <a:lnTo>
                  <a:pt x="6790" y="331090"/>
                </a:lnTo>
                <a:cubicBezTo>
                  <a:pt x="167" y="244617"/>
                  <a:pt x="-1613" y="157841"/>
                  <a:pt x="1460" y="71172"/>
                </a:cubicBezTo>
                <a:lnTo>
                  <a:pt x="797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"/>
          <p:cNvSpPr/>
          <p:nvPr/>
        </p:nvSpPr>
        <p:spPr>
          <a:xfrm rot="5400000">
            <a:off x="5608196" y="2660180"/>
            <a:ext cx="1012629" cy="800052"/>
          </a:xfrm>
          <a:custGeom>
            <a:rect b="b" l="l" r="r" t="t"/>
            <a:pathLst>
              <a:path extrusionOk="0" h="551814" w="1351513">
                <a:moveTo>
                  <a:pt x="260959" y="0"/>
                </a:moveTo>
                <a:lnTo>
                  <a:pt x="1090559" y="0"/>
                </a:lnTo>
                <a:lnTo>
                  <a:pt x="1155028" y="110362"/>
                </a:lnTo>
                <a:lnTo>
                  <a:pt x="1155186" y="110362"/>
                </a:lnTo>
                <a:cubicBezTo>
                  <a:pt x="1207938" y="206303"/>
                  <a:pt x="1258710" y="310375"/>
                  <a:pt x="1303692" y="421199"/>
                </a:cubicBezTo>
                <a:lnTo>
                  <a:pt x="1351513" y="551814"/>
                </a:lnTo>
                <a:lnTo>
                  <a:pt x="0" y="551814"/>
                </a:lnTo>
                <a:lnTo>
                  <a:pt x="15567" y="505499"/>
                </a:lnTo>
                <a:cubicBezTo>
                  <a:pt x="46963" y="419885"/>
                  <a:pt x="82150" y="337879"/>
                  <a:pt x="119509" y="260100"/>
                </a:cubicBezTo>
                <a:lnTo>
                  <a:pt x="196642" y="110363"/>
                </a:lnTo>
                <a:lnTo>
                  <a:pt x="196487" y="110363"/>
                </a:lnTo>
                <a:lnTo>
                  <a:pt x="260959" y="0"/>
                </a:lnTo>
                <a:close/>
              </a:path>
            </a:pathLst>
          </a:custGeom>
          <a:solidFill>
            <a:srgbClr val="273A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"/>
          <p:cNvSpPr/>
          <p:nvPr/>
        </p:nvSpPr>
        <p:spPr>
          <a:xfrm rot="5400000">
            <a:off x="6603462" y="2660721"/>
            <a:ext cx="622204" cy="800054"/>
          </a:xfrm>
          <a:custGeom>
            <a:rect b="b" l="l" r="r" t="t"/>
            <a:pathLst>
              <a:path extrusionOk="0" h="551815" w="829600">
                <a:moveTo>
                  <a:pt x="414838" y="0"/>
                </a:moveTo>
                <a:cubicBezTo>
                  <a:pt x="414838" y="0"/>
                  <a:pt x="611376" y="197199"/>
                  <a:pt x="809588" y="517557"/>
                </a:cubicBezTo>
                <a:lnTo>
                  <a:pt x="829600" y="551815"/>
                </a:lnTo>
                <a:lnTo>
                  <a:pt x="0" y="551815"/>
                </a:lnTo>
                <a:lnTo>
                  <a:pt x="20013" y="517557"/>
                </a:lnTo>
                <a:cubicBezTo>
                  <a:pt x="218239" y="197199"/>
                  <a:pt x="414838" y="0"/>
                  <a:pt x="41483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"/>
          <p:cNvSpPr/>
          <p:nvPr/>
        </p:nvSpPr>
        <p:spPr>
          <a:xfrm rot="5400000">
            <a:off x="2495771" y="2721311"/>
            <a:ext cx="960866" cy="675975"/>
          </a:xfrm>
          <a:custGeom>
            <a:rect b="b" l="l" r="r" t="t"/>
            <a:pathLst>
              <a:path extrusionOk="0" h="559822" w="1141445">
                <a:moveTo>
                  <a:pt x="736" y="-248"/>
                </a:moveTo>
                <a:cubicBezTo>
                  <a:pt x="51529" y="190859"/>
                  <a:pt x="116312" y="377970"/>
                  <a:pt x="194566" y="559574"/>
                </a:cubicBezTo>
                <a:lnTo>
                  <a:pt x="947953" y="559574"/>
                </a:lnTo>
                <a:cubicBezTo>
                  <a:pt x="1026340" y="377983"/>
                  <a:pt x="1091262" y="190872"/>
                  <a:pt x="1142181" y="-248"/>
                </a:cubicBezTo>
                <a:close/>
              </a:path>
            </a:pathLst>
          </a:custGeom>
          <a:solidFill>
            <a:srgbClr val="D1D0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"/>
          <p:cNvSpPr/>
          <p:nvPr/>
        </p:nvSpPr>
        <p:spPr>
          <a:xfrm>
            <a:off x="6843126" y="2989309"/>
            <a:ext cx="142875" cy="142875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"/>
          <p:cNvSpPr/>
          <p:nvPr/>
        </p:nvSpPr>
        <p:spPr>
          <a:xfrm>
            <a:off x="6043073" y="2989307"/>
            <a:ext cx="142875" cy="142875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"/>
          <p:cNvSpPr/>
          <p:nvPr/>
        </p:nvSpPr>
        <p:spPr>
          <a:xfrm>
            <a:off x="4499939" y="2800364"/>
            <a:ext cx="142875" cy="142875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"/>
          <p:cNvSpPr/>
          <p:nvPr/>
        </p:nvSpPr>
        <p:spPr>
          <a:xfrm>
            <a:off x="3642915" y="2989275"/>
            <a:ext cx="142875" cy="142875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"/>
          <p:cNvSpPr/>
          <p:nvPr/>
        </p:nvSpPr>
        <p:spPr>
          <a:xfrm>
            <a:off x="2904767" y="2988736"/>
            <a:ext cx="142875" cy="142875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"/>
          <p:cNvSpPr/>
          <p:nvPr/>
        </p:nvSpPr>
        <p:spPr>
          <a:xfrm>
            <a:off x="5243021" y="3430193"/>
            <a:ext cx="142875" cy="142875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061" y="288875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2902" y="288844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1042" y="2889298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43008" y="288931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42957" y="288875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04754" y="2887848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d44c31ae7_0_967"/>
          <p:cNvSpPr txBox="1"/>
          <p:nvPr/>
        </p:nvSpPr>
        <p:spPr>
          <a:xfrm>
            <a:off x="715425" y="1427664"/>
            <a:ext cx="31119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A80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Why Ethiopia is the Right Starting Point</a:t>
            </a:r>
            <a:endParaRPr b="1" sz="270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A80"/>
              </a:buClr>
              <a:buSzPts val="2700"/>
              <a:buFont typeface="Arial"/>
              <a:buNone/>
            </a:pPr>
            <a:r>
              <a:t/>
            </a:r>
            <a:endParaRPr b="1" sz="270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A80"/>
              </a:buClr>
              <a:buSzPts val="2700"/>
              <a:buFont typeface="Arial"/>
              <a:buNone/>
            </a:pPr>
            <a:r>
              <a:t/>
            </a:r>
            <a:endParaRPr b="1" sz="270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9" name="Google Shape;309;g3dd44c31ae7_0_967"/>
          <p:cNvSpPr/>
          <p:nvPr/>
        </p:nvSpPr>
        <p:spPr>
          <a:xfrm>
            <a:off x="797175" y="2642790"/>
            <a:ext cx="2948400" cy="1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Ethiopia isn't the whole story -  it's the best first chapter.</a:t>
            </a:r>
            <a:endParaRPr sz="10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0" name="Google Shape;310;g3dd44c31ae7_0_967"/>
          <p:cNvSpPr/>
          <p:nvPr/>
        </p:nvSpPr>
        <p:spPr>
          <a:xfrm>
            <a:off x="4545805" y="3078555"/>
            <a:ext cx="395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Scale of the market alone</a:t>
            </a:r>
            <a:endParaRPr b="1" sz="115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 134M people, 12 regions, 2 administrative cities, hundreds of departments </a:t>
            </a:r>
            <a:endParaRPr sz="9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1" name="Google Shape;311;g3dd44c31ae7_0_967"/>
          <p:cNvSpPr/>
          <p:nvPr/>
        </p:nvSpPr>
        <p:spPr>
          <a:xfrm>
            <a:off x="4545805" y="1461578"/>
            <a:ext cx="42594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Institutional momentum</a:t>
            </a:r>
            <a:endParaRPr b="1" sz="115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The Ethiopian Digital Economy Council (EDC) is actively steering digital initiatives. 800 services are already digitized via the Mesob One Stop Service pilot — there is appetite and precedent.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dd44c31ae7_0_967"/>
          <p:cNvSpPr/>
          <p:nvPr/>
        </p:nvSpPr>
        <p:spPr>
          <a:xfrm>
            <a:off x="4545805" y="2326509"/>
            <a:ext cx="436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Funding is available</a:t>
            </a:r>
            <a:endParaRPr b="1" sz="115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World Bank, EU, GIZ, Gates Foundation, UNDP are all active in Ethiopia and funding similar projects in other countries.</a:t>
            </a:r>
            <a:endParaRPr sz="1500"/>
          </a:p>
        </p:txBody>
      </p:sp>
      <p:sp>
        <p:nvSpPr>
          <p:cNvPr id="313" name="Google Shape;313;g3dd44c31ae7_0_967"/>
          <p:cNvSpPr/>
          <p:nvPr/>
        </p:nvSpPr>
        <p:spPr>
          <a:xfrm>
            <a:off x="4521028" y="3769314"/>
            <a:ext cx="3950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eGov and DIGIT is already in Ethiopia</a:t>
            </a:r>
            <a:endParaRPr b="1" sz="115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Active engagement with Ministry of Health, Ministry of Finance, Ministry of Trade and Regional Integration, Ethiopian AI Institute (MoU signed), and DIAL </a:t>
            </a:r>
            <a:endParaRPr sz="9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4" name="Google Shape;314;g3dd44c31ae7_0_967"/>
          <p:cNvSpPr/>
          <p:nvPr/>
        </p:nvSpPr>
        <p:spPr>
          <a:xfrm>
            <a:off x="4545805" y="564933"/>
            <a:ext cx="3950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Policy window is open</a:t>
            </a:r>
            <a:endParaRPr b="1" sz="1200">
              <a:solidFill>
                <a:srgbClr val="273A8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Digital Ethiopia 2030 calls for digitizing priority public services. Licensing/Complaints management are both high impact and visibility use cases</a:t>
            </a:r>
            <a:endParaRPr sz="9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d44c31ae7_0_979"/>
          <p:cNvSpPr txBox="1"/>
          <p:nvPr/>
        </p:nvSpPr>
        <p:spPr>
          <a:xfrm>
            <a:off x="1765980" y="523658"/>
            <a:ext cx="56121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Why DIGIT wins the conversation with a Ministry</a:t>
            </a:r>
            <a:endParaRPr b="1" sz="270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21" name="Google Shape;321;g3dd44c31ae7_0_979"/>
          <p:cNvGrpSpPr/>
          <p:nvPr/>
        </p:nvGrpSpPr>
        <p:grpSpPr>
          <a:xfrm>
            <a:off x="1096551" y="3042414"/>
            <a:ext cx="2217141" cy="1158900"/>
            <a:chOff x="913056" y="4654653"/>
            <a:chExt cx="2560800" cy="1545200"/>
          </a:xfrm>
        </p:grpSpPr>
        <p:sp>
          <p:nvSpPr>
            <p:cNvPr id="322" name="Google Shape;322;g3dd44c31ae7_0_979"/>
            <p:cNvSpPr txBox="1"/>
            <p:nvPr/>
          </p:nvSpPr>
          <p:spPr>
            <a:xfrm>
              <a:off x="913056" y="5001353"/>
              <a:ext cx="2560800" cy="11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rPr>
                <a:t>Powers services for 300M+ citizens. Not experimental — it's a proven global standard benchmarking India's DPI model.</a:t>
              </a:r>
              <a:endParaRPr sz="11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3" name="Google Shape;323;g3dd44c31ae7_0_979"/>
            <p:cNvSpPr txBox="1"/>
            <p:nvPr/>
          </p:nvSpPr>
          <p:spPr>
            <a:xfrm>
              <a:off x="913056" y="4654653"/>
              <a:ext cx="25608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24" name="Google Shape;324;g3dd44c31ae7_0_979"/>
          <p:cNvGrpSpPr/>
          <p:nvPr/>
        </p:nvGrpSpPr>
        <p:grpSpPr>
          <a:xfrm>
            <a:off x="3633979" y="3042409"/>
            <a:ext cx="2248527" cy="1158899"/>
            <a:chOff x="1235075" y="4654649"/>
            <a:chExt cx="2238900" cy="1545198"/>
          </a:xfrm>
        </p:grpSpPr>
        <p:sp>
          <p:nvSpPr>
            <p:cNvPr id="325" name="Google Shape;325;g3dd44c31ae7_0_979"/>
            <p:cNvSpPr txBox="1"/>
            <p:nvPr/>
          </p:nvSpPr>
          <p:spPr>
            <a:xfrm>
              <a:off x="1235075" y="5001347"/>
              <a:ext cx="2238900" cy="11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262626"/>
                  </a:solidFill>
                  <a:latin typeface="DM Sans"/>
                  <a:ea typeface="DM Sans"/>
                  <a:cs typeface="DM Sans"/>
                  <a:sym typeface="DM Sans"/>
                </a:rPr>
                <a:t>Built on open standards and interoperable blocks. Matches the language of donors like World Bank, GIZ, and AU.</a:t>
              </a:r>
              <a:endParaRPr sz="11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6" name="Google Shape;326;g3dd44c31ae7_0_979"/>
            <p:cNvSpPr txBox="1"/>
            <p:nvPr/>
          </p:nvSpPr>
          <p:spPr>
            <a:xfrm>
              <a:off x="1235075" y="4654649"/>
              <a:ext cx="22389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27" name="Google Shape;327;g3dd44c31ae7_0_979"/>
          <p:cNvSpPr txBox="1"/>
          <p:nvPr/>
        </p:nvSpPr>
        <p:spPr>
          <a:xfrm>
            <a:off x="6089475" y="3751082"/>
            <a:ext cx="1907767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328" name="Google Shape;328;g3dd44c31ae7_0_979"/>
          <p:cNvGrpSpPr/>
          <p:nvPr/>
        </p:nvGrpSpPr>
        <p:grpSpPr>
          <a:xfrm>
            <a:off x="1375379" y="1617875"/>
            <a:ext cx="1679175" cy="1679175"/>
            <a:chOff x="1833839" y="2157167"/>
            <a:chExt cx="2238900" cy="2238900"/>
          </a:xfrm>
        </p:grpSpPr>
        <p:sp>
          <p:nvSpPr>
            <p:cNvPr id="329" name="Google Shape;329;g3dd44c31ae7_0_979"/>
            <p:cNvSpPr/>
            <p:nvPr/>
          </p:nvSpPr>
          <p:spPr>
            <a:xfrm>
              <a:off x="1833839" y="2157167"/>
              <a:ext cx="2238900" cy="22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0" name="Google Shape;330;g3dd44c31ae7_0_979"/>
            <p:cNvSpPr/>
            <p:nvPr/>
          </p:nvSpPr>
          <p:spPr>
            <a:xfrm>
              <a:off x="2012047" y="2335373"/>
              <a:ext cx="1882500" cy="1882500"/>
            </a:xfrm>
            <a:prstGeom prst="ellipse">
              <a:avLst/>
            </a:prstGeom>
            <a:solidFill>
              <a:srgbClr val="E0F2F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31" name="Google Shape;331;g3dd44c31ae7_0_979"/>
          <p:cNvGrpSpPr/>
          <p:nvPr/>
        </p:nvGrpSpPr>
        <p:grpSpPr>
          <a:xfrm>
            <a:off x="3732425" y="1617875"/>
            <a:ext cx="1679175" cy="1679175"/>
            <a:chOff x="4976567" y="2157167"/>
            <a:chExt cx="2238900" cy="2238900"/>
          </a:xfrm>
        </p:grpSpPr>
        <p:sp>
          <p:nvSpPr>
            <p:cNvPr id="332" name="Google Shape;332;g3dd44c31ae7_0_979"/>
            <p:cNvSpPr/>
            <p:nvPr/>
          </p:nvSpPr>
          <p:spPr>
            <a:xfrm>
              <a:off x="4976567" y="2157167"/>
              <a:ext cx="2238900" cy="22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3" name="Google Shape;333;g3dd44c31ae7_0_979"/>
            <p:cNvSpPr/>
            <p:nvPr/>
          </p:nvSpPr>
          <p:spPr>
            <a:xfrm>
              <a:off x="5154775" y="2335373"/>
              <a:ext cx="1882500" cy="1882500"/>
            </a:xfrm>
            <a:prstGeom prst="ellipse">
              <a:avLst/>
            </a:prstGeom>
            <a:solidFill>
              <a:srgbClr val="C6DEF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34" name="Google Shape;334;g3dd44c31ae7_0_979"/>
          <p:cNvGrpSpPr/>
          <p:nvPr/>
        </p:nvGrpSpPr>
        <p:grpSpPr>
          <a:xfrm>
            <a:off x="6300996" y="1617900"/>
            <a:ext cx="1679175" cy="1679175"/>
            <a:chOff x="8119295" y="2157167"/>
            <a:chExt cx="2238900" cy="2238900"/>
          </a:xfrm>
        </p:grpSpPr>
        <p:sp>
          <p:nvSpPr>
            <p:cNvPr id="335" name="Google Shape;335;g3dd44c31ae7_0_979"/>
            <p:cNvSpPr/>
            <p:nvPr/>
          </p:nvSpPr>
          <p:spPr>
            <a:xfrm>
              <a:off x="8119295" y="2157167"/>
              <a:ext cx="2238900" cy="22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6" name="Google Shape;336;g3dd44c31ae7_0_979"/>
            <p:cNvSpPr/>
            <p:nvPr/>
          </p:nvSpPr>
          <p:spPr>
            <a:xfrm>
              <a:off x="8297503" y="2335373"/>
              <a:ext cx="1882500" cy="1882500"/>
            </a:xfrm>
            <a:prstGeom prst="ellipse">
              <a:avLst/>
            </a:prstGeom>
            <a:solidFill>
              <a:srgbClr val="C0E7E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37" name="Google Shape;337;g3dd44c31ae7_0_979"/>
          <p:cNvSpPr txBox="1"/>
          <p:nvPr/>
        </p:nvSpPr>
        <p:spPr>
          <a:xfrm>
            <a:off x="1743075" y="2531102"/>
            <a:ext cx="943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Proven at Scale</a:t>
            </a:r>
            <a:endParaRPr b="1" sz="110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g3dd44c31ae7_0_979"/>
          <p:cNvSpPr txBox="1"/>
          <p:nvPr/>
        </p:nvSpPr>
        <p:spPr>
          <a:xfrm>
            <a:off x="4100126" y="2531100"/>
            <a:ext cx="108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DPI - Aligned</a:t>
            </a:r>
            <a:endParaRPr b="1" sz="110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9" name="Google Shape;339;g3dd44c31ae7_0_979"/>
          <p:cNvSpPr txBox="1"/>
          <p:nvPr/>
        </p:nvSpPr>
        <p:spPr>
          <a:xfrm>
            <a:off x="6359599" y="2531125"/>
            <a:ext cx="16206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Managed by an incountry partner</a:t>
            </a:r>
            <a:endParaRPr b="1" sz="1100">
              <a:solidFill>
                <a:srgbClr val="273A8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40" name="Google Shape;340;g3dd44c31ae7_0_9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0026" y="2165402"/>
            <a:ext cx="320011" cy="381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g3dd44c31ae7_0_9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2008" y="2277344"/>
            <a:ext cx="479986" cy="276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g3dd44c31ae7_0_9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6810" y="2149737"/>
            <a:ext cx="320011" cy="38138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g3dd44c31ae7_0_979"/>
          <p:cNvSpPr txBox="1"/>
          <p:nvPr/>
        </p:nvSpPr>
        <p:spPr>
          <a:xfrm>
            <a:off x="6089476" y="3341579"/>
            <a:ext cx="22170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Africom/Orbit Hosting the SaaS instance = </a:t>
            </a:r>
            <a:r>
              <a:rPr lang="en" sz="11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sovereignty</a:t>
            </a:r>
            <a:r>
              <a:rPr lang="en" sz="11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 concerns addresed</a:t>
            </a:r>
            <a:endParaRPr sz="11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d44c31ae7_0_1177"/>
          <p:cNvSpPr txBox="1"/>
          <p:nvPr/>
        </p:nvSpPr>
        <p:spPr>
          <a:xfrm>
            <a:off x="763633" y="485100"/>
            <a:ext cx="6344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The Platform Expand Path</a:t>
            </a:r>
            <a:endParaRPr sz="1100"/>
          </a:p>
        </p:txBody>
      </p:sp>
      <p:sp>
        <p:nvSpPr>
          <p:cNvPr id="350" name="Google Shape;350;g3dd44c31ae7_0_1177"/>
          <p:cNvSpPr txBox="1"/>
          <p:nvPr/>
        </p:nvSpPr>
        <p:spPr>
          <a:xfrm>
            <a:off x="5932648" y="1849723"/>
            <a:ext cx="2442033" cy="3462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Across Regions</a:t>
            </a:r>
            <a:endParaRPr sz="1100">
              <a:solidFill>
                <a:srgbClr val="273A80"/>
              </a:solidFill>
            </a:endParaRPr>
          </a:p>
        </p:txBody>
      </p:sp>
      <p:sp>
        <p:nvSpPr>
          <p:cNvPr id="351" name="Google Shape;351;g3dd44c31ae7_0_1177"/>
          <p:cNvSpPr txBox="1"/>
          <p:nvPr/>
        </p:nvSpPr>
        <p:spPr>
          <a:xfrm>
            <a:off x="1382035" y="1863114"/>
            <a:ext cx="2860973" cy="3462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Within Country</a:t>
            </a:r>
            <a:endParaRPr sz="1100">
              <a:solidFill>
                <a:srgbClr val="273A80"/>
              </a:solidFill>
            </a:endParaRPr>
          </a:p>
        </p:txBody>
      </p:sp>
      <p:sp>
        <p:nvSpPr>
          <p:cNvPr id="352" name="Google Shape;352;g3dd44c31ae7_0_1177"/>
          <p:cNvSpPr txBox="1"/>
          <p:nvPr/>
        </p:nvSpPr>
        <p:spPr>
          <a:xfrm>
            <a:off x="881702" y="2376286"/>
            <a:ext cx="32112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Start:  One Type of License/Permit or Complaints Management</a:t>
            </a:r>
            <a:endParaRPr sz="10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Expand: Additional Type of License/Permits</a:t>
            </a:r>
            <a:endParaRPr sz="10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Further Expand: Migrate to government Infra, use DIGIT to build more use cases</a:t>
            </a:r>
            <a:endParaRPr sz="10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3" name="Google Shape;353;g3dd44c31ae7_0_1177"/>
          <p:cNvSpPr txBox="1"/>
          <p:nvPr/>
        </p:nvSpPr>
        <p:spPr>
          <a:xfrm>
            <a:off x="5391853" y="2371408"/>
            <a:ext cx="27411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Set up SaaS for one country</a:t>
            </a:r>
            <a:endParaRPr sz="10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Use the same instance and playbooks in other countries</a:t>
            </a:r>
            <a:endParaRPr sz="10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Incremental revenue, near zero product cost</a:t>
            </a:r>
            <a:endParaRPr sz="10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4" name="Google Shape;354;g3dd44c31ae7_0_1177"/>
          <p:cNvSpPr/>
          <p:nvPr/>
        </p:nvSpPr>
        <p:spPr>
          <a:xfrm>
            <a:off x="881700" y="1033550"/>
            <a:ext cx="72102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One ministry in one country is the entry point. The ceiling is the entire region</a:t>
            </a:r>
            <a:endParaRPr sz="11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5" name="Google Shape;355;g3dd44c31ae7_0_1177"/>
          <p:cNvSpPr/>
          <p:nvPr/>
        </p:nvSpPr>
        <p:spPr>
          <a:xfrm>
            <a:off x="5391857" y="1884500"/>
            <a:ext cx="490800" cy="3249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FAB4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dd44c31ae7_0_1177"/>
          <p:cNvSpPr/>
          <p:nvPr/>
        </p:nvSpPr>
        <p:spPr>
          <a:xfrm>
            <a:off x="954500" y="1761863"/>
            <a:ext cx="363000" cy="522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AB4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d44c31ae7_0_1092"/>
          <p:cNvSpPr txBox="1"/>
          <p:nvPr/>
        </p:nvSpPr>
        <p:spPr>
          <a:xfrm>
            <a:off x="763633" y="485100"/>
            <a:ext cx="6344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How the partnership works</a:t>
            </a:r>
            <a:endParaRPr sz="1100"/>
          </a:p>
        </p:txBody>
      </p:sp>
      <p:sp>
        <p:nvSpPr>
          <p:cNvPr id="363" name="Google Shape;363;g3dd44c31ae7_0_1092"/>
          <p:cNvSpPr txBox="1"/>
          <p:nvPr/>
        </p:nvSpPr>
        <p:spPr>
          <a:xfrm>
            <a:off x="4650067" y="1808462"/>
            <a:ext cx="2442033" cy="3462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eGov</a:t>
            </a:r>
            <a:endParaRPr sz="1100"/>
          </a:p>
        </p:txBody>
      </p:sp>
      <p:sp>
        <p:nvSpPr>
          <p:cNvPr id="364" name="Google Shape;364;g3dd44c31ae7_0_1092"/>
          <p:cNvSpPr txBox="1"/>
          <p:nvPr/>
        </p:nvSpPr>
        <p:spPr>
          <a:xfrm>
            <a:off x="881689" y="1886539"/>
            <a:ext cx="2860973" cy="3462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Africom/Orbit</a:t>
            </a:r>
            <a:endParaRPr sz="1100"/>
          </a:p>
        </p:txBody>
      </p:sp>
      <p:sp>
        <p:nvSpPr>
          <p:cNvPr id="365" name="Google Shape;365;g3dd44c31ae7_0_1092"/>
          <p:cNvSpPr txBox="1"/>
          <p:nvPr/>
        </p:nvSpPr>
        <p:spPr>
          <a:xfrm>
            <a:off x="881702" y="2376286"/>
            <a:ext cx="32112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Hosts and manages the SaaS instance</a:t>
            </a:r>
            <a:endParaRPr sz="10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Manages government Client relationships and procurement</a:t>
            </a:r>
            <a:endParaRPr sz="10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Provides L1 support</a:t>
            </a:r>
            <a:endParaRPr sz="10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Delivers configuration and training locally</a:t>
            </a:r>
            <a:endParaRPr sz="10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6" name="Google Shape;366;g3dd44c31ae7_0_1092"/>
          <p:cNvSpPr txBox="1"/>
          <p:nvPr/>
        </p:nvSpPr>
        <p:spPr>
          <a:xfrm>
            <a:off x="4770053" y="2313833"/>
            <a:ext cx="27411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Owns and maintains product </a:t>
            </a:r>
            <a:r>
              <a:rPr lang="en" sz="1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roadmap</a:t>
            </a:r>
            <a:endParaRPr sz="10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Provides L2/L3 technical support</a:t>
            </a:r>
            <a:endParaRPr sz="10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Provides support </a:t>
            </a:r>
            <a:r>
              <a:rPr lang="en" sz="1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through partner</a:t>
            </a:r>
            <a:r>
              <a:rPr lang="en" sz="1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 sales cycles</a:t>
            </a:r>
            <a:endParaRPr sz="10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Connects to </a:t>
            </a:r>
            <a:r>
              <a:rPr lang="en" sz="1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global</a:t>
            </a:r>
            <a:r>
              <a:rPr lang="en" sz="1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 SI network</a:t>
            </a:r>
            <a:endParaRPr sz="10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7" name="Google Shape;367;g3dd44c31ae7_0_1092"/>
          <p:cNvSpPr/>
          <p:nvPr/>
        </p:nvSpPr>
        <p:spPr>
          <a:xfrm>
            <a:off x="881700" y="1033550"/>
            <a:ext cx="72102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eGov brings the </a:t>
            </a:r>
            <a:r>
              <a:rPr lang="en" sz="11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product</a:t>
            </a:r>
            <a:r>
              <a:rPr lang="en" sz="11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, Africom brings the access</a:t>
            </a:r>
            <a:endParaRPr sz="1100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dd44c31ae7_0_1191"/>
          <p:cNvSpPr txBox="1"/>
          <p:nvPr/>
        </p:nvSpPr>
        <p:spPr>
          <a:xfrm>
            <a:off x="763633" y="485100"/>
            <a:ext cx="6344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The</a:t>
            </a:r>
            <a:r>
              <a:rPr b="1" lang="en" sz="2700">
                <a:solidFill>
                  <a:srgbClr val="273A80"/>
                </a:solidFill>
                <a:latin typeface="DM Sans"/>
                <a:ea typeface="DM Sans"/>
                <a:cs typeface="DM Sans"/>
                <a:sym typeface="DM Sans"/>
              </a:rPr>
              <a:t> Ask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3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00C7F6"/>
      </a:accent1>
      <a:accent2>
        <a:srgbClr val="00A4E6"/>
      </a:accent2>
      <a:accent3>
        <a:srgbClr val="00B0D3"/>
      </a:accent3>
      <a:accent4>
        <a:srgbClr val="3ABFC4"/>
      </a:accent4>
      <a:accent5>
        <a:srgbClr val="21C0D7"/>
      </a:accent5>
      <a:accent6>
        <a:srgbClr val="55D4F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